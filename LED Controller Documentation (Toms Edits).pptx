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3" r:id="rId4"/>
    <p:sldId id="262" r:id="rId5"/>
    <p:sldId id="258" r:id="rId6"/>
    <p:sldId id="259" r:id="rId7"/>
    <p:sldId id="260" r:id="rId8"/>
    <p:sldId id="261" r:id="rId9"/>
  </p:sldIdLst>
  <p:sldSz cx="12192000" cy="68580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51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2D4BCF-9B8E-48B0-B969-AFC17C8431A1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812706-CFC9-42AB-9FBF-9D9EB6B5A8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715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center of the color wheel will be white with a guard band.  Within the guard band, send only “W” to the </a:t>
            </a:r>
            <a:r>
              <a:rPr lang="en-US" dirty="0" err="1"/>
              <a:t>pico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12706-CFC9-42AB-9FBF-9D9EB6B5A8F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7350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will be no white in the RGB for this controller.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12706-CFC9-42AB-9FBF-9D9EB6B5A8F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57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16B0E7-C398-40B0-8653-718E09CB9C95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1450AC-F9E6-474F-AADA-64EB8A8CF73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1797C8-AD7D-4257-86EA-E3D393EB9932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870AD0-31BB-4740-B448-A98B9537F5A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CAC91DB-57B7-4633-A27D-6BE7FFE60948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EA9990-66E2-456B-BCA0-BFEC2D05AA5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15441B9-2970-41E9-A5DC-CB35F6E3FA12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F81E61-AD05-48A5-86EC-46B66EE60AB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AE9507-2217-426F-A93A-D1CF522BBE26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</a:p>
        </p:txBody>
      </p:sp>
      <p:sp>
        <p:nvSpPr>
          <p:cNvPr id="53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5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B659E9-94AC-480F-BB3B-C8BFBF97F33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</a:p>
        </p:txBody>
      </p:sp>
      <p:sp>
        <p:nvSpPr>
          <p:cNvPr id="59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DEDD33-8DEB-4A47-B647-92ADDC771850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BoonDocks LED Controller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Operating description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Screen Layouts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: Rounded Corners 2"/>
          <p:cNvSpPr/>
          <p:nvPr/>
        </p:nvSpPr>
        <p:spPr>
          <a:xfrm>
            <a:off x="619200" y="1429920"/>
            <a:ext cx="1754640" cy="3666482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66" name="Picture 2" descr="Color wheel - Wikipedia"/>
          <p:cNvPicPr/>
          <p:nvPr/>
        </p:nvPicPr>
        <p:blipFill>
          <a:blip r:embed="rId3"/>
          <a:stretch/>
        </p:blipFill>
        <p:spPr>
          <a:xfrm>
            <a:off x="846720" y="1844640"/>
            <a:ext cx="1299240" cy="12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Box 8"/>
          <p:cNvSpPr/>
          <p:nvPr/>
        </p:nvSpPr>
        <p:spPr>
          <a:xfrm>
            <a:off x="695520" y="1533960"/>
            <a:ext cx="16783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CTL X Name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Picture 4" descr="67 Dimmable Icon Royalty-Free Images, Stock Photos &amp; Pictures | Shutterstock"/>
          <p:cNvPicPr/>
          <p:nvPr/>
        </p:nvPicPr>
        <p:blipFill>
          <a:blip r:embed="rId4"/>
          <a:srcRect l="22024" t="20640" r="22024" b="27133"/>
          <a:stretch/>
        </p:blipFill>
        <p:spPr>
          <a:xfrm>
            <a:off x="9983160" y="1743625"/>
            <a:ext cx="504000" cy="50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Picture 6" descr="Light bulb icon. Energy and thinking symbol. Creative idea and inspiration concept. Isolated vector illustration on white background. lightbulb icon stock illustrations"/>
          <p:cNvPicPr/>
          <p:nvPr/>
        </p:nvPicPr>
        <p:blipFill>
          <a:blip r:embed="rId5"/>
          <a:srcRect l="8954" t="16150" r="58414" b="16636"/>
          <a:stretch/>
        </p:blipFill>
        <p:spPr>
          <a:xfrm>
            <a:off x="7374960" y="1326960"/>
            <a:ext cx="623160" cy="66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" name="Picture 4" descr="67 Dimmable Icon Royalty-Free Images, Stock Photos &amp; Pictures | Shutterstock"/>
          <p:cNvPicPr/>
          <p:nvPr/>
        </p:nvPicPr>
        <p:blipFill>
          <a:blip r:embed="rId4"/>
          <a:srcRect l="22024" t="20640" r="22024" b="27133"/>
          <a:stretch/>
        </p:blipFill>
        <p:spPr>
          <a:xfrm>
            <a:off x="1634400" y="3454560"/>
            <a:ext cx="451080" cy="45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" name="Picture 6" descr="Light bulb icon. Energy and thinking symbol. Creative idea and inspiration concept. Isolated vector illustration on white background. lightbulb icon stock illustrations"/>
          <p:cNvPicPr/>
          <p:nvPr/>
        </p:nvPicPr>
        <p:blipFill>
          <a:blip r:embed="rId5"/>
          <a:srcRect l="8954" t="16150" r="58414" b="16636"/>
          <a:stretch/>
        </p:blipFill>
        <p:spPr>
          <a:xfrm>
            <a:off x="856800" y="3358980"/>
            <a:ext cx="558000" cy="59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Box 1040"/>
          <p:cNvSpPr/>
          <p:nvPr/>
        </p:nvSpPr>
        <p:spPr>
          <a:xfrm>
            <a:off x="9906120" y="237600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100%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041"/>
          <p:cNvSpPr/>
          <p:nvPr/>
        </p:nvSpPr>
        <p:spPr>
          <a:xfrm>
            <a:off x="9906120" y="304668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75%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042"/>
          <p:cNvSpPr/>
          <p:nvPr/>
        </p:nvSpPr>
        <p:spPr>
          <a:xfrm>
            <a:off x="9906120" y="371592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5</a:t>
            </a:r>
            <a:r>
              <a:rPr lang="en-US" dirty="0">
                <a:solidFill>
                  <a:schemeClr val="dk1"/>
                </a:solidFill>
                <a:latin typeface="Aptos"/>
              </a:rPr>
              <a:t>0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%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043"/>
          <p:cNvSpPr/>
          <p:nvPr/>
        </p:nvSpPr>
        <p:spPr>
          <a:xfrm>
            <a:off x="9906120" y="438444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dirty="0">
                <a:solidFill>
                  <a:schemeClr val="dk1"/>
                </a:solidFill>
                <a:latin typeface="Aptos"/>
              </a:rPr>
              <a:t>25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%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044"/>
          <p:cNvSpPr/>
          <p:nvPr/>
        </p:nvSpPr>
        <p:spPr>
          <a:xfrm>
            <a:off x="9116280" y="1006200"/>
            <a:ext cx="2741760" cy="91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Dimmer Touch Cycle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Default “on” 100%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Arrow: Down 1045"/>
          <p:cNvSpPr/>
          <p:nvPr/>
        </p:nvSpPr>
        <p:spPr>
          <a:xfrm>
            <a:off x="10162440" y="276372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2" name="Arrow: Down 5"/>
          <p:cNvSpPr/>
          <p:nvPr/>
        </p:nvSpPr>
        <p:spPr>
          <a:xfrm>
            <a:off x="10169280" y="342180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3" name="Arrow: Down 6"/>
          <p:cNvSpPr/>
          <p:nvPr/>
        </p:nvSpPr>
        <p:spPr>
          <a:xfrm>
            <a:off x="10182960" y="410040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4" name="Arrow: Down 9"/>
          <p:cNvSpPr/>
          <p:nvPr/>
        </p:nvSpPr>
        <p:spPr>
          <a:xfrm rot="5400000">
            <a:off x="10703160" y="239796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5" name="Rectangle 10"/>
          <p:cNvSpPr/>
          <p:nvPr/>
        </p:nvSpPr>
        <p:spPr>
          <a:xfrm>
            <a:off x="10957680" y="2470320"/>
            <a:ext cx="125640" cy="21715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6" name="Rectangle 11"/>
          <p:cNvSpPr/>
          <p:nvPr/>
        </p:nvSpPr>
        <p:spPr>
          <a:xfrm rot="5400000">
            <a:off x="10798920" y="4377600"/>
            <a:ext cx="106920" cy="39996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7" name="TextBox 12"/>
          <p:cNvSpPr/>
          <p:nvPr/>
        </p:nvSpPr>
        <p:spPr>
          <a:xfrm>
            <a:off x="6075720" y="1017000"/>
            <a:ext cx="27205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Bulb “ON” /  “OFF” State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8" name="Group 22"/>
          <p:cNvGrpSpPr/>
          <p:nvPr/>
        </p:nvGrpSpPr>
        <p:grpSpPr>
          <a:xfrm>
            <a:off x="6623280" y="1324440"/>
            <a:ext cx="623160" cy="662760"/>
            <a:chOff x="6623280" y="1324440"/>
            <a:chExt cx="623160" cy="662760"/>
          </a:xfrm>
        </p:grpSpPr>
        <p:pic>
          <p:nvPicPr>
            <p:cNvPr id="99" name="Picture 6" descr="Light bulb icon. Energy and thinking symbol. Creative idea and inspiration concept. Isolated vector illustration on white background. lightbulb icon stock illustrations"/>
            <p:cNvPicPr/>
            <p:nvPr/>
          </p:nvPicPr>
          <p:blipFill>
            <a:blip r:embed="rId5"/>
            <a:srcRect l="8954" t="16150" r="58414" b="16636"/>
            <a:stretch/>
          </p:blipFill>
          <p:spPr>
            <a:xfrm>
              <a:off x="6623280" y="1324440"/>
              <a:ext cx="623160" cy="662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0" name="Oval 21"/>
            <p:cNvSpPr/>
            <p:nvPr/>
          </p:nvSpPr>
          <p:spPr>
            <a:xfrm>
              <a:off x="6835320" y="1532880"/>
              <a:ext cx="179640" cy="189000"/>
            </a:xfrm>
            <a:prstGeom prst="ellipse">
              <a:avLst/>
            </a:prstGeom>
            <a:solidFill>
              <a:srgbClr val="FFFF00"/>
            </a:solidFill>
            <a:ln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</p:grpSp>
      <p:sp>
        <p:nvSpPr>
          <p:cNvPr id="103" name="TextBox 25"/>
          <p:cNvSpPr/>
          <p:nvPr/>
        </p:nvSpPr>
        <p:spPr>
          <a:xfrm>
            <a:off x="6001920" y="2029680"/>
            <a:ext cx="2794680" cy="92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Haptic response  on touch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Click – ringer “ON”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Vibrate – ringer “OFF”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6"/>
          <p:cNvSpPr/>
          <p:nvPr/>
        </p:nvSpPr>
        <p:spPr>
          <a:xfrm>
            <a:off x="9000360" y="4892400"/>
            <a:ext cx="2794680" cy="92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Haptic response  on touch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– ringer “ON”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Vibrate – ringer “OFF”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8"/>
          <p:cNvSpPr/>
          <p:nvPr/>
        </p:nvSpPr>
        <p:spPr>
          <a:xfrm>
            <a:off x="1626004" y="157617"/>
            <a:ext cx="2438338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dirty="0">
                <a:solidFill>
                  <a:schemeClr val="dk1"/>
                </a:solidFill>
                <a:latin typeface="Aptos"/>
              </a:rPr>
              <a:t>RGBW</a:t>
            </a: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Screen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29"/>
          <p:cNvSpPr/>
          <p:nvPr/>
        </p:nvSpPr>
        <p:spPr>
          <a:xfrm>
            <a:off x="512316" y="5096402"/>
            <a:ext cx="177867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Screen used for 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RGBW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025"/>
          <p:cNvSpPr/>
          <p:nvPr/>
        </p:nvSpPr>
        <p:spPr>
          <a:xfrm>
            <a:off x="944280" y="653760"/>
            <a:ext cx="408276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Each controller will have its own screen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027"/>
          <p:cNvSpPr/>
          <p:nvPr/>
        </p:nvSpPr>
        <p:spPr>
          <a:xfrm>
            <a:off x="7580261" y="142697"/>
            <a:ext cx="3061440" cy="51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Icon Operation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2" descr="Color wheel - Wikipedia"/>
          <p:cNvPicPr/>
          <p:nvPr/>
        </p:nvPicPr>
        <p:blipFill>
          <a:blip r:embed="rId3"/>
          <a:stretch/>
        </p:blipFill>
        <p:spPr>
          <a:xfrm>
            <a:off x="3511800" y="2709360"/>
            <a:ext cx="1299240" cy="12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Box 1029"/>
          <p:cNvSpPr/>
          <p:nvPr/>
        </p:nvSpPr>
        <p:spPr>
          <a:xfrm>
            <a:off x="2640010" y="1378747"/>
            <a:ext cx="3015098" cy="9218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Color wheel operation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dirty="0">
                <a:solidFill>
                  <a:schemeClr val="dk1"/>
                </a:solidFill>
                <a:latin typeface="Aptos"/>
              </a:rPr>
              <a:t>Send RGBW value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to </a:t>
            </a:r>
            <a:r>
              <a:rPr lang="en-US" sz="18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pico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as 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dirty="0">
                <a:solidFill>
                  <a:schemeClr val="dk1"/>
                </a:solidFill>
                <a:latin typeface="Aptos"/>
              </a:rPr>
              <a:t>finger m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oves through wheel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030"/>
          <p:cNvSpPr/>
          <p:nvPr/>
        </p:nvSpPr>
        <p:spPr>
          <a:xfrm>
            <a:off x="2768861" y="4384440"/>
            <a:ext cx="2948669" cy="9218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Haptic response  on release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Click – ringer “ON”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Vibrate – ringer “OFF”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4233C63B-6125-C135-B7FE-88C9BC2A0F40}"/>
              </a:ext>
            </a:extLst>
          </p:cNvPr>
          <p:cNvSpPr/>
          <p:nvPr/>
        </p:nvSpPr>
        <p:spPr>
          <a:xfrm>
            <a:off x="844560" y="4455419"/>
            <a:ext cx="570240" cy="499022"/>
          </a:xfrm>
          <a:prstGeom prst="actionButtonHom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4" descr="Thin line settings gear icon Royalty Free Vector Image">
            <a:extLst>
              <a:ext uri="{FF2B5EF4-FFF2-40B4-BE49-F238E27FC236}">
                <a16:creationId xmlns:a16="http://schemas.microsoft.com/office/drawing/2014/main" id="{0585E75F-F6CE-947D-EA90-91AB8AF1E69D}"/>
              </a:ext>
            </a:extLst>
          </p:cNvPr>
          <p:cNvPicPr/>
          <p:nvPr/>
        </p:nvPicPr>
        <p:blipFill>
          <a:blip r:embed="rId6"/>
          <a:srcRect l="25344" t="23031" r="24908" b="30336"/>
          <a:stretch/>
        </p:blipFill>
        <p:spPr>
          <a:xfrm>
            <a:off x="1750140" y="4513081"/>
            <a:ext cx="435960" cy="44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B8DC6A-5AA9-F5A8-4F99-B88FCABD2E68}"/>
              </a:ext>
            </a:extLst>
          </p:cNvPr>
          <p:cNvSpPr txBox="1"/>
          <p:nvPr/>
        </p:nvSpPr>
        <p:spPr>
          <a:xfrm>
            <a:off x="6047582" y="3415679"/>
            <a:ext cx="274727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home button is for returning to the operational screens so it has no effect here.  </a:t>
            </a:r>
          </a:p>
          <a:p>
            <a:r>
              <a:rPr lang="en-US" dirty="0"/>
              <a:t>The cog invokes the controller setup screen for this controller.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013A6-84D9-D80A-7EB3-FEC147356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: Rounded Corners 2">
            <a:extLst>
              <a:ext uri="{FF2B5EF4-FFF2-40B4-BE49-F238E27FC236}">
                <a16:creationId xmlns:a16="http://schemas.microsoft.com/office/drawing/2014/main" id="{B92151B8-1E90-6C03-391B-BF640CD9FFF8}"/>
              </a:ext>
            </a:extLst>
          </p:cNvPr>
          <p:cNvSpPr/>
          <p:nvPr/>
        </p:nvSpPr>
        <p:spPr>
          <a:xfrm>
            <a:off x="619200" y="1429920"/>
            <a:ext cx="1754640" cy="38941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66" name="Picture 2" descr="Color wheel - Wikipedia">
            <a:extLst>
              <a:ext uri="{FF2B5EF4-FFF2-40B4-BE49-F238E27FC236}">
                <a16:creationId xmlns:a16="http://schemas.microsoft.com/office/drawing/2014/main" id="{294B801F-3D39-9B79-D698-C75F8837DCA8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846720" y="1844640"/>
            <a:ext cx="1299240" cy="12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Box 8">
            <a:extLst>
              <a:ext uri="{FF2B5EF4-FFF2-40B4-BE49-F238E27FC236}">
                <a16:creationId xmlns:a16="http://schemas.microsoft.com/office/drawing/2014/main" id="{6B016258-49DC-301C-EC88-522651F208E8}"/>
              </a:ext>
            </a:extLst>
          </p:cNvPr>
          <p:cNvSpPr/>
          <p:nvPr/>
        </p:nvSpPr>
        <p:spPr>
          <a:xfrm>
            <a:off x="695520" y="1533960"/>
            <a:ext cx="16783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CTL X Name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Picture 4" descr="67 Dimmable Icon Royalty-Free Images, Stock Photos &amp; Pictures | Shutterstock">
            <a:extLst>
              <a:ext uri="{FF2B5EF4-FFF2-40B4-BE49-F238E27FC236}">
                <a16:creationId xmlns:a16="http://schemas.microsoft.com/office/drawing/2014/main" id="{D31CE0E1-8C70-A4E9-2356-90B5B3D37F01}"/>
              </a:ext>
            </a:extLst>
          </p:cNvPr>
          <p:cNvPicPr/>
          <p:nvPr/>
        </p:nvPicPr>
        <p:blipFill>
          <a:blip r:embed="rId4"/>
          <a:srcRect l="22024" t="20640" r="22024" b="27133"/>
          <a:stretch/>
        </p:blipFill>
        <p:spPr>
          <a:xfrm>
            <a:off x="10048500" y="1641240"/>
            <a:ext cx="504000" cy="50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Picture 6" descr="Light bulb icon. Energy and thinking symbol. Creative idea and inspiration concept. Isolated vector illustration on white background. lightbulb icon stock illustrations">
            <a:extLst>
              <a:ext uri="{FF2B5EF4-FFF2-40B4-BE49-F238E27FC236}">
                <a16:creationId xmlns:a16="http://schemas.microsoft.com/office/drawing/2014/main" id="{F86B494E-12A1-A4A4-6B67-318932D7B0CD}"/>
              </a:ext>
            </a:extLst>
          </p:cNvPr>
          <p:cNvPicPr/>
          <p:nvPr/>
        </p:nvPicPr>
        <p:blipFill>
          <a:blip r:embed="rId5"/>
          <a:srcRect l="8954" t="16150" r="58414" b="16636"/>
          <a:stretch/>
        </p:blipFill>
        <p:spPr>
          <a:xfrm>
            <a:off x="7374960" y="1326960"/>
            <a:ext cx="623160" cy="66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" name="Picture 4" descr="67 Dimmable Icon Royalty-Free Images, Stock Photos &amp; Pictures | Shutterstock">
            <a:extLst>
              <a:ext uri="{FF2B5EF4-FFF2-40B4-BE49-F238E27FC236}">
                <a16:creationId xmlns:a16="http://schemas.microsoft.com/office/drawing/2014/main" id="{150928A8-9E9E-5553-C46A-FD1B2F324D2C}"/>
              </a:ext>
            </a:extLst>
          </p:cNvPr>
          <p:cNvPicPr/>
          <p:nvPr/>
        </p:nvPicPr>
        <p:blipFill>
          <a:blip r:embed="rId4"/>
          <a:srcRect l="22024" t="20640" r="22024" b="27133"/>
          <a:stretch/>
        </p:blipFill>
        <p:spPr>
          <a:xfrm>
            <a:off x="1710000" y="4018140"/>
            <a:ext cx="451080" cy="45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" name="Picture 6" descr="Light bulb icon. Energy and thinking symbol. Creative idea and inspiration concept. Isolated vector illustration on white background. lightbulb icon stock illustrations">
            <a:extLst>
              <a:ext uri="{FF2B5EF4-FFF2-40B4-BE49-F238E27FC236}">
                <a16:creationId xmlns:a16="http://schemas.microsoft.com/office/drawing/2014/main" id="{0CAF5BD4-1843-D586-CA13-5E0B2D3AEDF8}"/>
              </a:ext>
            </a:extLst>
          </p:cNvPr>
          <p:cNvPicPr/>
          <p:nvPr/>
        </p:nvPicPr>
        <p:blipFill>
          <a:blip r:embed="rId5"/>
          <a:srcRect l="8954" t="16150" r="58414" b="16636"/>
          <a:stretch/>
        </p:blipFill>
        <p:spPr>
          <a:xfrm>
            <a:off x="846720" y="3924720"/>
            <a:ext cx="558000" cy="59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Picture 4" descr="67 Dimmable Icon Royalty-Free Images, Stock Photos &amp; Pictures | Shutterstock">
            <a:extLst>
              <a:ext uri="{FF2B5EF4-FFF2-40B4-BE49-F238E27FC236}">
                <a16:creationId xmlns:a16="http://schemas.microsoft.com/office/drawing/2014/main" id="{75687AFC-FEAE-0B69-5AE1-D550F220336F}"/>
              </a:ext>
            </a:extLst>
          </p:cNvPr>
          <p:cNvPicPr/>
          <p:nvPr/>
        </p:nvPicPr>
        <p:blipFill>
          <a:blip r:embed="rId4"/>
          <a:srcRect l="22024" t="20640" r="22024" b="27133"/>
          <a:stretch/>
        </p:blipFill>
        <p:spPr>
          <a:xfrm>
            <a:off x="1694880" y="3178147"/>
            <a:ext cx="451080" cy="45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Box 1038">
            <a:extLst>
              <a:ext uri="{FF2B5EF4-FFF2-40B4-BE49-F238E27FC236}">
                <a16:creationId xmlns:a16="http://schemas.microsoft.com/office/drawing/2014/main" id="{F54843E0-33F2-EE77-57F0-CB47790B6C7F}"/>
              </a:ext>
            </a:extLst>
          </p:cNvPr>
          <p:cNvSpPr/>
          <p:nvPr/>
        </p:nvSpPr>
        <p:spPr>
          <a:xfrm>
            <a:off x="906880" y="3719890"/>
            <a:ext cx="1242946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400" dirty="0">
                <a:solidFill>
                  <a:schemeClr val="dk1"/>
                </a:solidFill>
                <a:latin typeface="Aptos"/>
              </a:rPr>
              <a:t>Chan 4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Name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040">
            <a:extLst>
              <a:ext uri="{FF2B5EF4-FFF2-40B4-BE49-F238E27FC236}">
                <a16:creationId xmlns:a16="http://schemas.microsoft.com/office/drawing/2014/main" id="{89B8BC00-FB17-19DC-DB00-84CF1640B666}"/>
              </a:ext>
            </a:extLst>
          </p:cNvPr>
          <p:cNvSpPr/>
          <p:nvPr/>
        </p:nvSpPr>
        <p:spPr>
          <a:xfrm>
            <a:off x="9906120" y="237600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100%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041">
            <a:extLst>
              <a:ext uri="{FF2B5EF4-FFF2-40B4-BE49-F238E27FC236}">
                <a16:creationId xmlns:a16="http://schemas.microsoft.com/office/drawing/2014/main" id="{4F093599-CB87-CF72-AC30-8E99E351ADFE}"/>
              </a:ext>
            </a:extLst>
          </p:cNvPr>
          <p:cNvSpPr/>
          <p:nvPr/>
        </p:nvSpPr>
        <p:spPr>
          <a:xfrm>
            <a:off x="9906120" y="304668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75%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042">
            <a:extLst>
              <a:ext uri="{FF2B5EF4-FFF2-40B4-BE49-F238E27FC236}">
                <a16:creationId xmlns:a16="http://schemas.microsoft.com/office/drawing/2014/main" id="{D12DF667-806B-FD3E-8982-D04E2DBD3769}"/>
              </a:ext>
            </a:extLst>
          </p:cNvPr>
          <p:cNvSpPr/>
          <p:nvPr/>
        </p:nvSpPr>
        <p:spPr>
          <a:xfrm>
            <a:off x="9906120" y="371592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50%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043">
            <a:extLst>
              <a:ext uri="{FF2B5EF4-FFF2-40B4-BE49-F238E27FC236}">
                <a16:creationId xmlns:a16="http://schemas.microsoft.com/office/drawing/2014/main" id="{681F80BC-172A-C80D-06F1-CF956BE6A688}"/>
              </a:ext>
            </a:extLst>
          </p:cNvPr>
          <p:cNvSpPr/>
          <p:nvPr/>
        </p:nvSpPr>
        <p:spPr>
          <a:xfrm>
            <a:off x="9906120" y="438444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dirty="0">
                <a:solidFill>
                  <a:schemeClr val="dk1"/>
                </a:solidFill>
                <a:latin typeface="Aptos"/>
              </a:rPr>
              <a:t>25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%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044">
            <a:extLst>
              <a:ext uri="{FF2B5EF4-FFF2-40B4-BE49-F238E27FC236}">
                <a16:creationId xmlns:a16="http://schemas.microsoft.com/office/drawing/2014/main" id="{1BE8962A-7028-AA4C-03BD-C30D7C1162DC}"/>
              </a:ext>
            </a:extLst>
          </p:cNvPr>
          <p:cNvSpPr/>
          <p:nvPr/>
        </p:nvSpPr>
        <p:spPr>
          <a:xfrm>
            <a:off x="9116280" y="1006200"/>
            <a:ext cx="2741760" cy="91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Dimmer Touch Cycle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Default “on” 100%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Arrow: Down 1045">
            <a:extLst>
              <a:ext uri="{FF2B5EF4-FFF2-40B4-BE49-F238E27FC236}">
                <a16:creationId xmlns:a16="http://schemas.microsoft.com/office/drawing/2014/main" id="{126334F7-99DB-7CAE-511E-25C30F384F74}"/>
              </a:ext>
            </a:extLst>
          </p:cNvPr>
          <p:cNvSpPr/>
          <p:nvPr/>
        </p:nvSpPr>
        <p:spPr>
          <a:xfrm>
            <a:off x="10162440" y="276372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2" name="Arrow: Down 5">
            <a:extLst>
              <a:ext uri="{FF2B5EF4-FFF2-40B4-BE49-F238E27FC236}">
                <a16:creationId xmlns:a16="http://schemas.microsoft.com/office/drawing/2014/main" id="{52D6C84B-E40E-F05A-5711-B24362AEC259}"/>
              </a:ext>
            </a:extLst>
          </p:cNvPr>
          <p:cNvSpPr/>
          <p:nvPr/>
        </p:nvSpPr>
        <p:spPr>
          <a:xfrm>
            <a:off x="10169280" y="342180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3" name="Arrow: Down 6">
            <a:extLst>
              <a:ext uri="{FF2B5EF4-FFF2-40B4-BE49-F238E27FC236}">
                <a16:creationId xmlns:a16="http://schemas.microsoft.com/office/drawing/2014/main" id="{1D00AD03-3B53-5A70-A67D-E6F2C833B799}"/>
              </a:ext>
            </a:extLst>
          </p:cNvPr>
          <p:cNvSpPr/>
          <p:nvPr/>
        </p:nvSpPr>
        <p:spPr>
          <a:xfrm>
            <a:off x="10182960" y="410040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4" name="Arrow: Down 9">
            <a:extLst>
              <a:ext uri="{FF2B5EF4-FFF2-40B4-BE49-F238E27FC236}">
                <a16:creationId xmlns:a16="http://schemas.microsoft.com/office/drawing/2014/main" id="{AFB3375D-0B09-A5A4-C442-807E76B05061}"/>
              </a:ext>
            </a:extLst>
          </p:cNvPr>
          <p:cNvSpPr/>
          <p:nvPr/>
        </p:nvSpPr>
        <p:spPr>
          <a:xfrm rot="5400000">
            <a:off x="10703160" y="239796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5" name="Rectangle 10">
            <a:extLst>
              <a:ext uri="{FF2B5EF4-FFF2-40B4-BE49-F238E27FC236}">
                <a16:creationId xmlns:a16="http://schemas.microsoft.com/office/drawing/2014/main" id="{316DEB2F-B4D6-2725-A6A8-AD2AA9E7552B}"/>
              </a:ext>
            </a:extLst>
          </p:cNvPr>
          <p:cNvSpPr/>
          <p:nvPr/>
        </p:nvSpPr>
        <p:spPr>
          <a:xfrm>
            <a:off x="10957680" y="2470320"/>
            <a:ext cx="125640" cy="21715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6" name="Rectangle 11">
            <a:extLst>
              <a:ext uri="{FF2B5EF4-FFF2-40B4-BE49-F238E27FC236}">
                <a16:creationId xmlns:a16="http://schemas.microsoft.com/office/drawing/2014/main" id="{C7802EEB-D96E-5E65-85FC-8417F8520299}"/>
              </a:ext>
            </a:extLst>
          </p:cNvPr>
          <p:cNvSpPr/>
          <p:nvPr/>
        </p:nvSpPr>
        <p:spPr>
          <a:xfrm rot="5400000">
            <a:off x="10798920" y="4377600"/>
            <a:ext cx="106920" cy="39996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7" name="TextBox 12">
            <a:extLst>
              <a:ext uri="{FF2B5EF4-FFF2-40B4-BE49-F238E27FC236}">
                <a16:creationId xmlns:a16="http://schemas.microsoft.com/office/drawing/2014/main" id="{A244E19C-75B2-B834-6753-765CBA7B9B1D}"/>
              </a:ext>
            </a:extLst>
          </p:cNvPr>
          <p:cNvSpPr/>
          <p:nvPr/>
        </p:nvSpPr>
        <p:spPr>
          <a:xfrm>
            <a:off x="6075720" y="1017000"/>
            <a:ext cx="27205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Bulb “ON” /  “OFF” State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8" name="Group 22">
            <a:extLst>
              <a:ext uri="{FF2B5EF4-FFF2-40B4-BE49-F238E27FC236}">
                <a16:creationId xmlns:a16="http://schemas.microsoft.com/office/drawing/2014/main" id="{1F2A8C4D-F553-2268-EB5B-151D14EFF6CC}"/>
              </a:ext>
            </a:extLst>
          </p:cNvPr>
          <p:cNvGrpSpPr/>
          <p:nvPr/>
        </p:nvGrpSpPr>
        <p:grpSpPr>
          <a:xfrm>
            <a:off x="6623280" y="1324440"/>
            <a:ext cx="623160" cy="662760"/>
            <a:chOff x="6623280" y="1324440"/>
            <a:chExt cx="623160" cy="662760"/>
          </a:xfrm>
        </p:grpSpPr>
        <p:pic>
          <p:nvPicPr>
            <p:cNvPr id="99" name="Picture 6" descr="Light bulb icon. Energy and thinking symbol. Creative idea and inspiration concept. Isolated vector illustration on white background. lightbulb icon stock illustrations">
              <a:extLst>
                <a:ext uri="{FF2B5EF4-FFF2-40B4-BE49-F238E27FC236}">
                  <a16:creationId xmlns:a16="http://schemas.microsoft.com/office/drawing/2014/main" id="{217B3DD9-4298-67AA-27A6-BF291753AD2F}"/>
                </a:ext>
              </a:extLst>
            </p:cNvPr>
            <p:cNvPicPr/>
            <p:nvPr/>
          </p:nvPicPr>
          <p:blipFill>
            <a:blip r:embed="rId5"/>
            <a:srcRect l="8954" t="16150" r="58414" b="16636"/>
            <a:stretch/>
          </p:blipFill>
          <p:spPr>
            <a:xfrm>
              <a:off x="6623280" y="1324440"/>
              <a:ext cx="623160" cy="662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0" name="Oval 21">
              <a:extLst>
                <a:ext uri="{FF2B5EF4-FFF2-40B4-BE49-F238E27FC236}">
                  <a16:creationId xmlns:a16="http://schemas.microsoft.com/office/drawing/2014/main" id="{3E6706E2-A45D-811D-474F-50705E654C52}"/>
                </a:ext>
              </a:extLst>
            </p:cNvPr>
            <p:cNvSpPr/>
            <p:nvPr/>
          </p:nvSpPr>
          <p:spPr>
            <a:xfrm>
              <a:off x="6835320" y="1532880"/>
              <a:ext cx="179640" cy="189000"/>
            </a:xfrm>
            <a:prstGeom prst="ellipse">
              <a:avLst/>
            </a:prstGeom>
            <a:solidFill>
              <a:srgbClr val="FFFF00"/>
            </a:solidFill>
            <a:ln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</p:grpSp>
      <p:sp>
        <p:nvSpPr>
          <p:cNvPr id="103" name="TextBox 25">
            <a:extLst>
              <a:ext uri="{FF2B5EF4-FFF2-40B4-BE49-F238E27FC236}">
                <a16:creationId xmlns:a16="http://schemas.microsoft.com/office/drawing/2014/main" id="{18BA6A18-F67C-1CF7-978D-14600C052B8A}"/>
              </a:ext>
            </a:extLst>
          </p:cNvPr>
          <p:cNvSpPr/>
          <p:nvPr/>
        </p:nvSpPr>
        <p:spPr>
          <a:xfrm>
            <a:off x="6001920" y="2029680"/>
            <a:ext cx="2794680" cy="92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Haptic response  on touch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– ringer “ON”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Vibrate – ringer “OFF”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6">
            <a:extLst>
              <a:ext uri="{FF2B5EF4-FFF2-40B4-BE49-F238E27FC236}">
                <a16:creationId xmlns:a16="http://schemas.microsoft.com/office/drawing/2014/main" id="{6DED7056-4CE3-E86D-4D65-BAD6344B426F}"/>
              </a:ext>
            </a:extLst>
          </p:cNvPr>
          <p:cNvSpPr/>
          <p:nvPr/>
        </p:nvSpPr>
        <p:spPr>
          <a:xfrm>
            <a:off x="9000360" y="4892400"/>
            <a:ext cx="2794680" cy="92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Haptic response  on touch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– ringer “ON”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Vibrate – ringer “OFF”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8">
            <a:extLst>
              <a:ext uri="{FF2B5EF4-FFF2-40B4-BE49-F238E27FC236}">
                <a16:creationId xmlns:a16="http://schemas.microsoft.com/office/drawing/2014/main" id="{6E4C08F3-7895-3C28-560B-335E93D3231F}"/>
              </a:ext>
            </a:extLst>
          </p:cNvPr>
          <p:cNvSpPr/>
          <p:nvPr/>
        </p:nvSpPr>
        <p:spPr>
          <a:xfrm>
            <a:off x="1775269" y="109917"/>
            <a:ext cx="2492711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dirty="0">
                <a:solidFill>
                  <a:schemeClr val="dk1"/>
                </a:solidFill>
                <a:latin typeface="Aptos"/>
              </a:rPr>
              <a:t>RGB+1</a:t>
            </a: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Screen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29">
            <a:extLst>
              <a:ext uri="{FF2B5EF4-FFF2-40B4-BE49-F238E27FC236}">
                <a16:creationId xmlns:a16="http://schemas.microsoft.com/office/drawing/2014/main" id="{9FD6DBDF-75D9-BBEA-CF1F-52312AC358D2}"/>
              </a:ext>
            </a:extLst>
          </p:cNvPr>
          <p:cNvSpPr/>
          <p:nvPr/>
        </p:nvSpPr>
        <p:spPr>
          <a:xfrm>
            <a:off x="595170" y="5496516"/>
            <a:ext cx="177867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Screen used for 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RBG + 1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025">
            <a:extLst>
              <a:ext uri="{FF2B5EF4-FFF2-40B4-BE49-F238E27FC236}">
                <a16:creationId xmlns:a16="http://schemas.microsoft.com/office/drawing/2014/main" id="{2B35CDD6-19F4-D61C-7B16-5B9F8AFAAB6A}"/>
              </a:ext>
            </a:extLst>
          </p:cNvPr>
          <p:cNvSpPr/>
          <p:nvPr/>
        </p:nvSpPr>
        <p:spPr>
          <a:xfrm>
            <a:off x="944280" y="653760"/>
            <a:ext cx="408276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Each controller will have its own screen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027">
            <a:extLst>
              <a:ext uri="{FF2B5EF4-FFF2-40B4-BE49-F238E27FC236}">
                <a16:creationId xmlns:a16="http://schemas.microsoft.com/office/drawing/2014/main" id="{92FF1BD8-EA1A-0497-ADAB-0FD4964EF89D}"/>
              </a:ext>
            </a:extLst>
          </p:cNvPr>
          <p:cNvSpPr/>
          <p:nvPr/>
        </p:nvSpPr>
        <p:spPr>
          <a:xfrm>
            <a:off x="7686540" y="112747"/>
            <a:ext cx="3061440" cy="51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Icon Operation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2" descr="Color wheel - Wikipedia">
            <a:extLst>
              <a:ext uri="{FF2B5EF4-FFF2-40B4-BE49-F238E27FC236}">
                <a16:creationId xmlns:a16="http://schemas.microsoft.com/office/drawing/2014/main" id="{95715B04-C415-B7E6-830D-A42971CCB7C1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3588840" y="2538689"/>
            <a:ext cx="1299240" cy="12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Box 1029">
            <a:extLst>
              <a:ext uri="{FF2B5EF4-FFF2-40B4-BE49-F238E27FC236}">
                <a16:creationId xmlns:a16="http://schemas.microsoft.com/office/drawing/2014/main" id="{1E361E7E-8966-4E19-1A87-A6BC4388AC59}"/>
              </a:ext>
            </a:extLst>
          </p:cNvPr>
          <p:cNvSpPr/>
          <p:nvPr/>
        </p:nvSpPr>
        <p:spPr>
          <a:xfrm>
            <a:off x="2690591" y="1372649"/>
            <a:ext cx="3015098" cy="9218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Color wheel operation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r>
              <a:rPr lang="en-US" dirty="0">
                <a:solidFill>
                  <a:schemeClr val="dk1"/>
                </a:solidFill>
              </a:rPr>
              <a:t>Send RGB value to </a:t>
            </a:r>
            <a:r>
              <a:rPr lang="en-US" dirty="0" err="1">
                <a:solidFill>
                  <a:schemeClr val="dk1"/>
                </a:solidFill>
              </a:rPr>
              <a:t>pico</a:t>
            </a:r>
            <a:r>
              <a:rPr lang="en-US" dirty="0">
                <a:solidFill>
                  <a:schemeClr val="dk1"/>
                </a:solidFill>
              </a:rPr>
              <a:t> as </a:t>
            </a:r>
            <a:endParaRPr lang="en-US" dirty="0">
              <a:solidFill>
                <a:srgbClr val="000000"/>
              </a:solidFill>
              <a:latin typeface="Arial"/>
            </a:endParaRPr>
          </a:p>
          <a:p>
            <a:pPr algn="ctr"/>
            <a:r>
              <a:rPr lang="en-US" dirty="0">
                <a:solidFill>
                  <a:schemeClr val="dk1"/>
                </a:solidFill>
              </a:rPr>
              <a:t>finger moves through wheel</a:t>
            </a:r>
            <a:endParaRPr lang="en-U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1030">
            <a:extLst>
              <a:ext uri="{FF2B5EF4-FFF2-40B4-BE49-F238E27FC236}">
                <a16:creationId xmlns:a16="http://schemas.microsoft.com/office/drawing/2014/main" id="{9940EB98-5F15-0635-F0F2-55E9F9D7F21F}"/>
              </a:ext>
            </a:extLst>
          </p:cNvPr>
          <p:cNvSpPr/>
          <p:nvPr/>
        </p:nvSpPr>
        <p:spPr>
          <a:xfrm>
            <a:off x="2823840" y="3769169"/>
            <a:ext cx="2829240" cy="92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Haptic response  on releas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– ringer “ON”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Vibrate – ringer “OFF”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6" descr="Light bulb icon. Energy and thinking symbol. Creative idea and inspiration concept. Isolated vector illustration on white background. lightbulb icon stock illustrations">
            <a:extLst>
              <a:ext uri="{FF2B5EF4-FFF2-40B4-BE49-F238E27FC236}">
                <a16:creationId xmlns:a16="http://schemas.microsoft.com/office/drawing/2014/main" id="{479FC942-49E5-27AA-5513-EC29C4B38409}"/>
              </a:ext>
            </a:extLst>
          </p:cNvPr>
          <p:cNvPicPr/>
          <p:nvPr/>
        </p:nvPicPr>
        <p:blipFill>
          <a:blip r:embed="rId5"/>
          <a:srcRect l="8954" t="16150" r="58414" b="16636"/>
          <a:stretch/>
        </p:blipFill>
        <p:spPr>
          <a:xfrm>
            <a:off x="896474" y="3075517"/>
            <a:ext cx="558000" cy="59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50E21B5-C497-055E-2ECF-71C1BBC43DBC}"/>
              </a:ext>
            </a:extLst>
          </p:cNvPr>
          <p:cNvSpPr/>
          <p:nvPr/>
        </p:nvSpPr>
        <p:spPr>
          <a:xfrm>
            <a:off x="846720" y="4642889"/>
            <a:ext cx="570240" cy="499022"/>
          </a:xfrm>
          <a:prstGeom prst="actionButtonHom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 descr="Thin line settings gear icon Royalty Free Vector Image">
            <a:extLst>
              <a:ext uri="{FF2B5EF4-FFF2-40B4-BE49-F238E27FC236}">
                <a16:creationId xmlns:a16="http://schemas.microsoft.com/office/drawing/2014/main" id="{D1FA6C2B-1C80-5DA0-0076-06C3A3638272}"/>
              </a:ext>
            </a:extLst>
          </p:cNvPr>
          <p:cNvPicPr/>
          <p:nvPr/>
        </p:nvPicPr>
        <p:blipFill>
          <a:blip r:embed="rId6"/>
          <a:srcRect l="25344" t="23031" r="24908" b="30336"/>
          <a:stretch/>
        </p:blipFill>
        <p:spPr>
          <a:xfrm>
            <a:off x="1648980" y="4700551"/>
            <a:ext cx="435960" cy="44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2877C0-15DD-5EDE-49A0-2AD87746EC4B}"/>
              </a:ext>
            </a:extLst>
          </p:cNvPr>
          <p:cNvSpPr txBox="1"/>
          <p:nvPr/>
        </p:nvSpPr>
        <p:spPr>
          <a:xfrm>
            <a:off x="6093995" y="3313291"/>
            <a:ext cx="27022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home button is for returning to the operational screens so it has no effect here.  </a:t>
            </a:r>
          </a:p>
          <a:p>
            <a:r>
              <a:rPr lang="en-US" dirty="0"/>
              <a:t>The cog invokes the controller setup screen for this controller.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3718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81484-F79A-7915-6009-6B6DA7202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: Rounded Corners 3">
            <a:extLst>
              <a:ext uri="{FF2B5EF4-FFF2-40B4-BE49-F238E27FC236}">
                <a16:creationId xmlns:a16="http://schemas.microsoft.com/office/drawing/2014/main" id="{81921EF1-A21B-ADBF-8827-28F157E0FDF3}"/>
              </a:ext>
            </a:extLst>
          </p:cNvPr>
          <p:cNvSpPr/>
          <p:nvPr/>
        </p:nvSpPr>
        <p:spPr>
          <a:xfrm>
            <a:off x="2100240" y="1408680"/>
            <a:ext cx="1754640" cy="38448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68" name="Picture 4" descr="67 Dimmable Icon Royalty-Free Images, Stock Photos &amp; Pictures | Shutterstock">
            <a:extLst>
              <a:ext uri="{FF2B5EF4-FFF2-40B4-BE49-F238E27FC236}">
                <a16:creationId xmlns:a16="http://schemas.microsoft.com/office/drawing/2014/main" id="{6562C7AE-DD9E-65F2-08F3-DD3DAE9F7DEE}"/>
              </a:ext>
            </a:extLst>
          </p:cNvPr>
          <p:cNvPicPr/>
          <p:nvPr/>
        </p:nvPicPr>
        <p:blipFill>
          <a:blip r:embed="rId2"/>
          <a:srcRect l="22024" t="20640" r="22024" b="27133"/>
          <a:stretch/>
        </p:blipFill>
        <p:spPr>
          <a:xfrm>
            <a:off x="10048500" y="1727460"/>
            <a:ext cx="504000" cy="50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Picture 6" descr="Light bulb icon. Energy and thinking symbol. Creative idea and inspiration concept. Isolated vector illustration on white background. lightbulb icon stock illustrations">
            <a:extLst>
              <a:ext uri="{FF2B5EF4-FFF2-40B4-BE49-F238E27FC236}">
                <a16:creationId xmlns:a16="http://schemas.microsoft.com/office/drawing/2014/main" id="{B28C8B0F-E518-744E-5241-5E7B67E23452}"/>
              </a:ext>
            </a:extLst>
          </p:cNvPr>
          <p:cNvPicPr/>
          <p:nvPr/>
        </p:nvPicPr>
        <p:blipFill>
          <a:blip r:embed="rId3"/>
          <a:srcRect l="8954" t="16150" r="58414" b="16636"/>
          <a:stretch/>
        </p:blipFill>
        <p:spPr>
          <a:xfrm>
            <a:off x="7374960" y="1326960"/>
            <a:ext cx="623160" cy="66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Picture 4" descr="67 Dimmable Icon Royalty-Free Images, Stock Photos &amp; Pictures | Shutterstock">
            <a:extLst>
              <a:ext uri="{FF2B5EF4-FFF2-40B4-BE49-F238E27FC236}">
                <a16:creationId xmlns:a16="http://schemas.microsoft.com/office/drawing/2014/main" id="{EDDD48C0-E6B6-842F-EB97-DBEEF4887C9D}"/>
              </a:ext>
            </a:extLst>
          </p:cNvPr>
          <p:cNvPicPr/>
          <p:nvPr/>
        </p:nvPicPr>
        <p:blipFill>
          <a:blip r:embed="rId2"/>
          <a:srcRect l="22024" t="20640" r="22024" b="27133"/>
          <a:stretch/>
        </p:blipFill>
        <p:spPr>
          <a:xfrm>
            <a:off x="3175920" y="1692720"/>
            <a:ext cx="451080" cy="45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Picture 6" descr="Light bulb icon. Energy and thinking symbol. Creative idea and inspiration concept. Isolated vector illustration on white background. lightbulb icon stock illustrations">
            <a:extLst>
              <a:ext uri="{FF2B5EF4-FFF2-40B4-BE49-F238E27FC236}">
                <a16:creationId xmlns:a16="http://schemas.microsoft.com/office/drawing/2014/main" id="{AE5539A6-3F51-3704-209D-55E8FBC120AF}"/>
              </a:ext>
            </a:extLst>
          </p:cNvPr>
          <p:cNvPicPr/>
          <p:nvPr/>
        </p:nvPicPr>
        <p:blipFill>
          <a:blip r:embed="rId3"/>
          <a:srcRect l="8954" t="16150" r="58414" b="16636"/>
          <a:stretch/>
        </p:blipFill>
        <p:spPr>
          <a:xfrm>
            <a:off x="2321640" y="1604520"/>
            <a:ext cx="558000" cy="59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Box 27">
            <a:extLst>
              <a:ext uri="{FF2B5EF4-FFF2-40B4-BE49-F238E27FC236}">
                <a16:creationId xmlns:a16="http://schemas.microsoft.com/office/drawing/2014/main" id="{72702818-675A-8A23-20B3-E5F9D1FA9A00}"/>
              </a:ext>
            </a:extLst>
          </p:cNvPr>
          <p:cNvSpPr/>
          <p:nvPr/>
        </p:nvSpPr>
        <p:spPr>
          <a:xfrm>
            <a:off x="2439360" y="1386720"/>
            <a:ext cx="1089720" cy="30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Username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4" descr="67 Dimmable Icon Royalty-Free Images, Stock Photos &amp; Pictures | Shutterstock">
            <a:extLst>
              <a:ext uri="{FF2B5EF4-FFF2-40B4-BE49-F238E27FC236}">
                <a16:creationId xmlns:a16="http://schemas.microsoft.com/office/drawing/2014/main" id="{CADEBEE8-D052-0631-1E38-330F36FDD921}"/>
              </a:ext>
            </a:extLst>
          </p:cNvPr>
          <p:cNvPicPr/>
          <p:nvPr/>
        </p:nvPicPr>
        <p:blipFill>
          <a:blip r:embed="rId2"/>
          <a:srcRect l="22024" t="20640" r="22024" b="27133"/>
          <a:stretch/>
        </p:blipFill>
        <p:spPr>
          <a:xfrm>
            <a:off x="3175920" y="2426760"/>
            <a:ext cx="451080" cy="45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Picture 6" descr="Light bulb icon. Energy and thinking symbol. Creative idea and inspiration concept. Isolated vector illustration on white background. lightbulb icon stock illustrations">
            <a:extLst>
              <a:ext uri="{FF2B5EF4-FFF2-40B4-BE49-F238E27FC236}">
                <a16:creationId xmlns:a16="http://schemas.microsoft.com/office/drawing/2014/main" id="{F6622ABB-B42D-4971-148F-E8B4CB1C5FD8}"/>
              </a:ext>
            </a:extLst>
          </p:cNvPr>
          <p:cNvPicPr/>
          <p:nvPr/>
        </p:nvPicPr>
        <p:blipFill>
          <a:blip r:embed="rId3"/>
          <a:srcRect l="8954" t="16150" r="58414" b="16636"/>
          <a:stretch/>
        </p:blipFill>
        <p:spPr>
          <a:xfrm>
            <a:off x="2321640" y="2373120"/>
            <a:ext cx="558000" cy="59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Box 1026">
            <a:extLst>
              <a:ext uri="{FF2B5EF4-FFF2-40B4-BE49-F238E27FC236}">
                <a16:creationId xmlns:a16="http://schemas.microsoft.com/office/drawing/2014/main" id="{F87A4BD8-0130-D881-69C6-0541174A5916}"/>
              </a:ext>
            </a:extLst>
          </p:cNvPr>
          <p:cNvSpPr/>
          <p:nvPr/>
        </p:nvSpPr>
        <p:spPr>
          <a:xfrm>
            <a:off x="2439360" y="2127600"/>
            <a:ext cx="1089720" cy="30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Username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Picture 4" descr="67 Dimmable Icon Royalty-Free Images, Stock Photos &amp; Pictures | Shutterstock">
            <a:extLst>
              <a:ext uri="{FF2B5EF4-FFF2-40B4-BE49-F238E27FC236}">
                <a16:creationId xmlns:a16="http://schemas.microsoft.com/office/drawing/2014/main" id="{5AD04FAE-2598-3820-80B3-73CEEBDBAED6}"/>
              </a:ext>
            </a:extLst>
          </p:cNvPr>
          <p:cNvPicPr/>
          <p:nvPr/>
        </p:nvPicPr>
        <p:blipFill>
          <a:blip r:embed="rId2"/>
          <a:srcRect l="22024" t="20640" r="22024" b="27133"/>
          <a:stretch/>
        </p:blipFill>
        <p:spPr>
          <a:xfrm>
            <a:off x="3207240" y="3201120"/>
            <a:ext cx="451080" cy="45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" name="Picture 6" descr="Light bulb icon. Energy and thinking symbol. Creative idea and inspiration concept. Isolated vector illustration on white background. lightbulb icon stock illustrations">
            <a:extLst>
              <a:ext uri="{FF2B5EF4-FFF2-40B4-BE49-F238E27FC236}">
                <a16:creationId xmlns:a16="http://schemas.microsoft.com/office/drawing/2014/main" id="{C029ED23-F368-7D3D-69F6-BD2C0DC15309}"/>
              </a:ext>
            </a:extLst>
          </p:cNvPr>
          <p:cNvPicPr/>
          <p:nvPr/>
        </p:nvPicPr>
        <p:blipFill>
          <a:blip r:embed="rId3"/>
          <a:srcRect l="8954" t="16150" r="58414" b="16636"/>
          <a:stretch/>
        </p:blipFill>
        <p:spPr>
          <a:xfrm>
            <a:off x="2352600" y="3113280"/>
            <a:ext cx="558000" cy="59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Box 1034">
            <a:extLst>
              <a:ext uri="{FF2B5EF4-FFF2-40B4-BE49-F238E27FC236}">
                <a16:creationId xmlns:a16="http://schemas.microsoft.com/office/drawing/2014/main" id="{2A6230FF-9604-F799-816E-1F737D419F78}"/>
              </a:ext>
            </a:extLst>
          </p:cNvPr>
          <p:cNvSpPr/>
          <p:nvPr/>
        </p:nvSpPr>
        <p:spPr>
          <a:xfrm>
            <a:off x="2470680" y="2874240"/>
            <a:ext cx="1089000" cy="30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Username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Picture 4" descr="67 Dimmable Icon Royalty-Free Images, Stock Photos &amp; Pictures | Shutterstock">
            <a:extLst>
              <a:ext uri="{FF2B5EF4-FFF2-40B4-BE49-F238E27FC236}">
                <a16:creationId xmlns:a16="http://schemas.microsoft.com/office/drawing/2014/main" id="{08C15A3D-0121-90E2-F13D-6EEB89DA5583}"/>
              </a:ext>
            </a:extLst>
          </p:cNvPr>
          <p:cNvPicPr/>
          <p:nvPr/>
        </p:nvPicPr>
        <p:blipFill>
          <a:blip r:embed="rId2"/>
          <a:srcRect l="22024" t="20640" r="22024" b="27133"/>
          <a:stretch/>
        </p:blipFill>
        <p:spPr>
          <a:xfrm>
            <a:off x="3207240" y="3931920"/>
            <a:ext cx="451080" cy="45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Picture 6" descr="Light bulb icon. Energy and thinking symbol. Creative idea and inspiration concept. Isolated vector illustration on white background. lightbulb icon stock illustrations">
            <a:extLst>
              <a:ext uri="{FF2B5EF4-FFF2-40B4-BE49-F238E27FC236}">
                <a16:creationId xmlns:a16="http://schemas.microsoft.com/office/drawing/2014/main" id="{EEF081F7-DAE0-5CEE-CD3D-7AAA5DA8BE18}"/>
              </a:ext>
            </a:extLst>
          </p:cNvPr>
          <p:cNvPicPr/>
          <p:nvPr/>
        </p:nvPicPr>
        <p:blipFill>
          <a:blip r:embed="rId3"/>
          <a:srcRect l="8954" t="16150" r="58414" b="16636"/>
          <a:stretch/>
        </p:blipFill>
        <p:spPr>
          <a:xfrm>
            <a:off x="2352600" y="3843720"/>
            <a:ext cx="558000" cy="59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TextBox 1037">
            <a:extLst>
              <a:ext uri="{FF2B5EF4-FFF2-40B4-BE49-F238E27FC236}">
                <a16:creationId xmlns:a16="http://schemas.microsoft.com/office/drawing/2014/main" id="{C50C8423-1EC8-B9EB-75A3-7603B682C970}"/>
              </a:ext>
            </a:extLst>
          </p:cNvPr>
          <p:cNvSpPr/>
          <p:nvPr/>
        </p:nvSpPr>
        <p:spPr>
          <a:xfrm>
            <a:off x="2470680" y="3618720"/>
            <a:ext cx="1089000" cy="30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Username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040">
            <a:extLst>
              <a:ext uri="{FF2B5EF4-FFF2-40B4-BE49-F238E27FC236}">
                <a16:creationId xmlns:a16="http://schemas.microsoft.com/office/drawing/2014/main" id="{4124246C-345C-F92B-032A-393367A96629}"/>
              </a:ext>
            </a:extLst>
          </p:cNvPr>
          <p:cNvSpPr/>
          <p:nvPr/>
        </p:nvSpPr>
        <p:spPr>
          <a:xfrm>
            <a:off x="9906120" y="237600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100%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041">
            <a:extLst>
              <a:ext uri="{FF2B5EF4-FFF2-40B4-BE49-F238E27FC236}">
                <a16:creationId xmlns:a16="http://schemas.microsoft.com/office/drawing/2014/main" id="{FDC3C3F4-8B34-043A-E2E6-468B4BE857EC}"/>
              </a:ext>
            </a:extLst>
          </p:cNvPr>
          <p:cNvSpPr/>
          <p:nvPr/>
        </p:nvSpPr>
        <p:spPr>
          <a:xfrm>
            <a:off x="9906120" y="304668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75%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042">
            <a:extLst>
              <a:ext uri="{FF2B5EF4-FFF2-40B4-BE49-F238E27FC236}">
                <a16:creationId xmlns:a16="http://schemas.microsoft.com/office/drawing/2014/main" id="{238F74B0-0FEB-ED75-3912-B7E2B642E77C}"/>
              </a:ext>
            </a:extLst>
          </p:cNvPr>
          <p:cNvSpPr/>
          <p:nvPr/>
        </p:nvSpPr>
        <p:spPr>
          <a:xfrm>
            <a:off x="9906120" y="371592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50%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043">
            <a:extLst>
              <a:ext uri="{FF2B5EF4-FFF2-40B4-BE49-F238E27FC236}">
                <a16:creationId xmlns:a16="http://schemas.microsoft.com/office/drawing/2014/main" id="{26AE9C6A-6934-7637-45EC-7E9D079D4C7F}"/>
              </a:ext>
            </a:extLst>
          </p:cNvPr>
          <p:cNvSpPr/>
          <p:nvPr/>
        </p:nvSpPr>
        <p:spPr>
          <a:xfrm>
            <a:off x="9906120" y="438444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dirty="0">
                <a:solidFill>
                  <a:schemeClr val="dk1"/>
                </a:solidFill>
                <a:latin typeface="Aptos"/>
              </a:rPr>
              <a:t>25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%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044">
            <a:extLst>
              <a:ext uri="{FF2B5EF4-FFF2-40B4-BE49-F238E27FC236}">
                <a16:creationId xmlns:a16="http://schemas.microsoft.com/office/drawing/2014/main" id="{100B3AA6-0CA2-4A69-2A1A-F4E3F868E00E}"/>
              </a:ext>
            </a:extLst>
          </p:cNvPr>
          <p:cNvSpPr/>
          <p:nvPr/>
        </p:nvSpPr>
        <p:spPr>
          <a:xfrm>
            <a:off x="9116280" y="1006200"/>
            <a:ext cx="2741760" cy="91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Dimmer Touch Cycle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Default “on” 100%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Arrow: Down 1045">
            <a:extLst>
              <a:ext uri="{FF2B5EF4-FFF2-40B4-BE49-F238E27FC236}">
                <a16:creationId xmlns:a16="http://schemas.microsoft.com/office/drawing/2014/main" id="{0846D26A-A1C9-9F9D-1786-9D573F15F075}"/>
              </a:ext>
            </a:extLst>
          </p:cNvPr>
          <p:cNvSpPr/>
          <p:nvPr/>
        </p:nvSpPr>
        <p:spPr>
          <a:xfrm>
            <a:off x="10162440" y="276372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2" name="Arrow: Down 5">
            <a:extLst>
              <a:ext uri="{FF2B5EF4-FFF2-40B4-BE49-F238E27FC236}">
                <a16:creationId xmlns:a16="http://schemas.microsoft.com/office/drawing/2014/main" id="{B21367A8-5800-BD09-7013-27706E1FF1BA}"/>
              </a:ext>
            </a:extLst>
          </p:cNvPr>
          <p:cNvSpPr/>
          <p:nvPr/>
        </p:nvSpPr>
        <p:spPr>
          <a:xfrm>
            <a:off x="10169280" y="342180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3" name="Arrow: Down 6">
            <a:extLst>
              <a:ext uri="{FF2B5EF4-FFF2-40B4-BE49-F238E27FC236}">
                <a16:creationId xmlns:a16="http://schemas.microsoft.com/office/drawing/2014/main" id="{B7DD35F0-FD96-B0EA-92DA-76FF3E0B2214}"/>
              </a:ext>
            </a:extLst>
          </p:cNvPr>
          <p:cNvSpPr/>
          <p:nvPr/>
        </p:nvSpPr>
        <p:spPr>
          <a:xfrm>
            <a:off x="10182960" y="410040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4" name="Arrow: Down 9">
            <a:extLst>
              <a:ext uri="{FF2B5EF4-FFF2-40B4-BE49-F238E27FC236}">
                <a16:creationId xmlns:a16="http://schemas.microsoft.com/office/drawing/2014/main" id="{5CA8F1AD-4FFF-88EE-1773-992DC9B966C3}"/>
              </a:ext>
            </a:extLst>
          </p:cNvPr>
          <p:cNvSpPr/>
          <p:nvPr/>
        </p:nvSpPr>
        <p:spPr>
          <a:xfrm rot="5400000">
            <a:off x="10703160" y="239796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5" name="Rectangle 10">
            <a:extLst>
              <a:ext uri="{FF2B5EF4-FFF2-40B4-BE49-F238E27FC236}">
                <a16:creationId xmlns:a16="http://schemas.microsoft.com/office/drawing/2014/main" id="{B004890C-68B2-8392-2C86-61EEAF762E74}"/>
              </a:ext>
            </a:extLst>
          </p:cNvPr>
          <p:cNvSpPr/>
          <p:nvPr/>
        </p:nvSpPr>
        <p:spPr>
          <a:xfrm>
            <a:off x="10957680" y="2470320"/>
            <a:ext cx="125640" cy="21715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6" name="Rectangle 11">
            <a:extLst>
              <a:ext uri="{FF2B5EF4-FFF2-40B4-BE49-F238E27FC236}">
                <a16:creationId xmlns:a16="http://schemas.microsoft.com/office/drawing/2014/main" id="{17F25573-791B-91D4-58B0-54CD7E4C24A9}"/>
              </a:ext>
            </a:extLst>
          </p:cNvPr>
          <p:cNvSpPr/>
          <p:nvPr/>
        </p:nvSpPr>
        <p:spPr>
          <a:xfrm rot="5400000">
            <a:off x="10798920" y="4377600"/>
            <a:ext cx="106920" cy="39996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7" name="TextBox 12">
            <a:extLst>
              <a:ext uri="{FF2B5EF4-FFF2-40B4-BE49-F238E27FC236}">
                <a16:creationId xmlns:a16="http://schemas.microsoft.com/office/drawing/2014/main" id="{29AE7770-346D-2D65-B2CB-9738C5E27488}"/>
              </a:ext>
            </a:extLst>
          </p:cNvPr>
          <p:cNvSpPr/>
          <p:nvPr/>
        </p:nvSpPr>
        <p:spPr>
          <a:xfrm>
            <a:off x="6075720" y="1017000"/>
            <a:ext cx="27205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Bulb “ON” /  “OFF” State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8" name="Group 22">
            <a:extLst>
              <a:ext uri="{FF2B5EF4-FFF2-40B4-BE49-F238E27FC236}">
                <a16:creationId xmlns:a16="http://schemas.microsoft.com/office/drawing/2014/main" id="{AB4602EF-BFCE-E798-B42A-797C29AEE3BD}"/>
              </a:ext>
            </a:extLst>
          </p:cNvPr>
          <p:cNvGrpSpPr/>
          <p:nvPr/>
        </p:nvGrpSpPr>
        <p:grpSpPr>
          <a:xfrm>
            <a:off x="6623280" y="1324440"/>
            <a:ext cx="623160" cy="662760"/>
            <a:chOff x="6623280" y="1324440"/>
            <a:chExt cx="623160" cy="662760"/>
          </a:xfrm>
        </p:grpSpPr>
        <p:pic>
          <p:nvPicPr>
            <p:cNvPr id="99" name="Picture 6" descr="Light bulb icon. Energy and thinking symbol. Creative idea and inspiration concept. Isolated vector illustration on white background. lightbulb icon stock illustrations">
              <a:extLst>
                <a:ext uri="{FF2B5EF4-FFF2-40B4-BE49-F238E27FC236}">
                  <a16:creationId xmlns:a16="http://schemas.microsoft.com/office/drawing/2014/main" id="{C31B83C5-1A62-3BDE-7999-BFC194C9A5EC}"/>
                </a:ext>
              </a:extLst>
            </p:cNvPr>
            <p:cNvPicPr/>
            <p:nvPr/>
          </p:nvPicPr>
          <p:blipFill>
            <a:blip r:embed="rId3"/>
            <a:srcRect l="8954" t="16150" r="58414" b="16636"/>
            <a:stretch/>
          </p:blipFill>
          <p:spPr>
            <a:xfrm>
              <a:off x="6623280" y="1324440"/>
              <a:ext cx="623160" cy="662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0" name="Oval 21">
              <a:extLst>
                <a:ext uri="{FF2B5EF4-FFF2-40B4-BE49-F238E27FC236}">
                  <a16:creationId xmlns:a16="http://schemas.microsoft.com/office/drawing/2014/main" id="{EBCEFBB8-83AB-69E1-AF05-C2AE11EB32CE}"/>
                </a:ext>
              </a:extLst>
            </p:cNvPr>
            <p:cNvSpPr/>
            <p:nvPr/>
          </p:nvSpPr>
          <p:spPr>
            <a:xfrm>
              <a:off x="6835320" y="1532880"/>
              <a:ext cx="179640" cy="189000"/>
            </a:xfrm>
            <a:prstGeom prst="ellipse">
              <a:avLst/>
            </a:prstGeom>
            <a:solidFill>
              <a:srgbClr val="FFFF00"/>
            </a:solidFill>
            <a:ln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</p:grpSp>
      <p:sp>
        <p:nvSpPr>
          <p:cNvPr id="103" name="TextBox 25">
            <a:extLst>
              <a:ext uri="{FF2B5EF4-FFF2-40B4-BE49-F238E27FC236}">
                <a16:creationId xmlns:a16="http://schemas.microsoft.com/office/drawing/2014/main" id="{80EF5AC2-6DB9-3458-6F75-B006327E0217}"/>
              </a:ext>
            </a:extLst>
          </p:cNvPr>
          <p:cNvSpPr/>
          <p:nvPr/>
        </p:nvSpPr>
        <p:spPr>
          <a:xfrm>
            <a:off x="6001920" y="2029680"/>
            <a:ext cx="2794680" cy="92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Haptic response  on touch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– ringer “ON”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Vibrate – ringer “OFF”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6">
            <a:extLst>
              <a:ext uri="{FF2B5EF4-FFF2-40B4-BE49-F238E27FC236}">
                <a16:creationId xmlns:a16="http://schemas.microsoft.com/office/drawing/2014/main" id="{016CC7F0-F321-B4C4-38C8-3505EE37F5A5}"/>
              </a:ext>
            </a:extLst>
          </p:cNvPr>
          <p:cNvSpPr/>
          <p:nvPr/>
        </p:nvSpPr>
        <p:spPr>
          <a:xfrm>
            <a:off x="9000360" y="4892400"/>
            <a:ext cx="2794680" cy="92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Haptic response  on touch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– ringer “ON”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Vibrate – ringer “OFF”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8">
            <a:extLst>
              <a:ext uri="{FF2B5EF4-FFF2-40B4-BE49-F238E27FC236}">
                <a16:creationId xmlns:a16="http://schemas.microsoft.com/office/drawing/2014/main" id="{3FF7FBFE-0416-C51D-E42E-DE26B0A2C9D9}"/>
              </a:ext>
            </a:extLst>
          </p:cNvPr>
          <p:cNvSpPr/>
          <p:nvPr/>
        </p:nvSpPr>
        <p:spPr>
          <a:xfrm>
            <a:off x="1352085" y="158139"/>
            <a:ext cx="3055109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dirty="0">
                <a:solidFill>
                  <a:schemeClr val="dk1"/>
                </a:solidFill>
                <a:latin typeface="Aptos"/>
              </a:rPr>
              <a:t>4 Channel</a:t>
            </a: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Screen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30">
            <a:extLst>
              <a:ext uri="{FF2B5EF4-FFF2-40B4-BE49-F238E27FC236}">
                <a16:creationId xmlns:a16="http://schemas.microsoft.com/office/drawing/2014/main" id="{38742F92-3195-53EE-EFA5-C84FB18868FD}"/>
              </a:ext>
            </a:extLst>
          </p:cNvPr>
          <p:cNvSpPr/>
          <p:nvPr/>
        </p:nvSpPr>
        <p:spPr>
          <a:xfrm>
            <a:off x="2147084" y="5447160"/>
            <a:ext cx="1781280" cy="92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Screen used for 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4 independent 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channels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025">
            <a:extLst>
              <a:ext uri="{FF2B5EF4-FFF2-40B4-BE49-F238E27FC236}">
                <a16:creationId xmlns:a16="http://schemas.microsoft.com/office/drawing/2014/main" id="{EADF68EF-B6AA-EB41-B734-B580659DEBB7}"/>
              </a:ext>
            </a:extLst>
          </p:cNvPr>
          <p:cNvSpPr/>
          <p:nvPr/>
        </p:nvSpPr>
        <p:spPr>
          <a:xfrm>
            <a:off x="944280" y="653760"/>
            <a:ext cx="408276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Each controller will have its own screen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027">
            <a:extLst>
              <a:ext uri="{FF2B5EF4-FFF2-40B4-BE49-F238E27FC236}">
                <a16:creationId xmlns:a16="http://schemas.microsoft.com/office/drawing/2014/main" id="{F5E911C2-DE18-2315-751D-6FB21E238CBF}"/>
              </a:ext>
            </a:extLst>
          </p:cNvPr>
          <p:cNvSpPr/>
          <p:nvPr/>
        </p:nvSpPr>
        <p:spPr>
          <a:xfrm>
            <a:off x="6766200" y="178560"/>
            <a:ext cx="3061440" cy="51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Icon Operation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8D25A04A-6258-286F-9878-9258362C721D}"/>
              </a:ext>
            </a:extLst>
          </p:cNvPr>
          <p:cNvSpPr/>
          <p:nvPr/>
        </p:nvSpPr>
        <p:spPr>
          <a:xfrm>
            <a:off x="2324466" y="4678526"/>
            <a:ext cx="570240" cy="499022"/>
          </a:xfrm>
          <a:prstGeom prst="actionButtonHom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4" descr="Thin line settings gear icon Royalty Free Vector Image">
            <a:extLst>
              <a:ext uri="{FF2B5EF4-FFF2-40B4-BE49-F238E27FC236}">
                <a16:creationId xmlns:a16="http://schemas.microsoft.com/office/drawing/2014/main" id="{9F2FD09B-E510-4232-810A-C820FB2B2FD1}"/>
              </a:ext>
            </a:extLst>
          </p:cNvPr>
          <p:cNvPicPr/>
          <p:nvPr/>
        </p:nvPicPr>
        <p:blipFill>
          <a:blip r:embed="rId4"/>
          <a:srcRect l="25344" t="23031" r="24908" b="30336"/>
          <a:stretch/>
        </p:blipFill>
        <p:spPr>
          <a:xfrm>
            <a:off x="3175920" y="4740300"/>
            <a:ext cx="435960" cy="44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0FD31C-CAD9-1CC4-6BA5-D8B27A44640C}"/>
              </a:ext>
            </a:extLst>
          </p:cNvPr>
          <p:cNvSpPr txBox="1"/>
          <p:nvPr/>
        </p:nvSpPr>
        <p:spPr>
          <a:xfrm>
            <a:off x="6136817" y="3519174"/>
            <a:ext cx="249485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home button is for returning to the operational screens so it has no effect here.  </a:t>
            </a:r>
          </a:p>
          <a:p>
            <a:r>
              <a:rPr lang="en-US" dirty="0"/>
              <a:t>The cog invokes the controller setup screen for this controller.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400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8"/>
          <p:cNvGrpSpPr/>
          <p:nvPr/>
        </p:nvGrpSpPr>
        <p:grpSpPr>
          <a:xfrm>
            <a:off x="4314600" y="1880280"/>
            <a:ext cx="1754640" cy="3031920"/>
            <a:chOff x="4314600" y="1880280"/>
            <a:chExt cx="1754640" cy="3031920"/>
          </a:xfrm>
        </p:grpSpPr>
        <p:sp>
          <p:nvSpPr>
            <p:cNvPr id="114" name="Rectangle: Rounded Corners 1"/>
            <p:cNvSpPr/>
            <p:nvPr/>
          </p:nvSpPr>
          <p:spPr>
            <a:xfrm>
              <a:off x="4314600" y="1880280"/>
              <a:ext cx="1754640" cy="30319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pic>
          <p:nvPicPr>
            <p:cNvPr id="115" name="Picture 2" descr="Color wheel - Wikipedia"/>
            <p:cNvPicPr/>
            <p:nvPr/>
          </p:nvPicPr>
          <p:blipFill>
            <a:blip r:embed="rId2"/>
            <a:stretch/>
          </p:blipFill>
          <p:spPr>
            <a:xfrm>
              <a:off x="4542120" y="2295000"/>
              <a:ext cx="1299240" cy="12992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6" name="TextBox 3"/>
            <p:cNvSpPr/>
            <p:nvPr/>
          </p:nvSpPr>
          <p:spPr>
            <a:xfrm>
              <a:off x="4390920" y="1984320"/>
              <a:ext cx="1477440" cy="36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800" b="0" u="none" strike="noStrike">
                  <a:solidFill>
                    <a:schemeClr val="dk1"/>
                  </a:solidFill>
                  <a:effectLst/>
                  <a:uFillTx/>
                  <a:latin typeface="Aptos"/>
                </a:rPr>
                <a:t>RGBW Name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17" name="Picture 4" descr="67 Dimmable Icon Royalty-Free Images, Stock Photos &amp; Pictures | Shutterstock"/>
            <p:cNvPicPr/>
            <p:nvPr/>
          </p:nvPicPr>
          <p:blipFill>
            <a:blip r:embed="rId3"/>
            <a:srcRect l="22024" t="20640" r="22024" b="27133"/>
            <a:stretch/>
          </p:blipFill>
          <p:spPr>
            <a:xfrm>
              <a:off x="5390280" y="348732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8" name="TextBox 7"/>
            <p:cNvSpPr/>
            <p:nvPr/>
          </p:nvSpPr>
          <p:spPr>
            <a:xfrm>
              <a:off x="4686120" y="3931920"/>
              <a:ext cx="989280" cy="3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endParaRPr>
            </a:p>
          </p:txBody>
        </p:sp>
      </p:grpSp>
      <p:grpSp>
        <p:nvGrpSpPr>
          <p:cNvPr id="119" name="Group 9"/>
          <p:cNvGrpSpPr/>
          <p:nvPr/>
        </p:nvGrpSpPr>
        <p:grpSpPr>
          <a:xfrm>
            <a:off x="6248160" y="1902240"/>
            <a:ext cx="1754640" cy="3031920"/>
            <a:chOff x="6248160" y="1902240"/>
            <a:chExt cx="1754640" cy="3031920"/>
          </a:xfrm>
        </p:grpSpPr>
        <p:sp>
          <p:nvSpPr>
            <p:cNvPr id="120" name="Rectangle: Rounded Corners 10"/>
            <p:cNvSpPr/>
            <p:nvPr/>
          </p:nvSpPr>
          <p:spPr>
            <a:xfrm>
              <a:off x="6248160" y="1902240"/>
              <a:ext cx="1754640" cy="30319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pic>
          <p:nvPicPr>
            <p:cNvPr id="121" name="Picture 11" descr="Color wheel - Wikipedia"/>
            <p:cNvPicPr/>
            <p:nvPr/>
          </p:nvPicPr>
          <p:blipFill>
            <a:blip r:embed="rId2"/>
            <a:stretch/>
          </p:blipFill>
          <p:spPr>
            <a:xfrm>
              <a:off x="6475680" y="2316960"/>
              <a:ext cx="1299240" cy="12992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2" name="TextBox 12"/>
            <p:cNvSpPr/>
            <p:nvPr/>
          </p:nvSpPr>
          <p:spPr>
            <a:xfrm>
              <a:off x="6324480" y="2006280"/>
              <a:ext cx="1276200" cy="36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800" b="0" u="none" strike="noStrike">
                  <a:solidFill>
                    <a:schemeClr val="dk1"/>
                  </a:solidFill>
                  <a:effectLst/>
                  <a:uFillTx/>
                  <a:latin typeface="Aptos"/>
                </a:rPr>
                <a:t>RGB Name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23" name="Picture 13" descr="67 Dimmable Icon Royalty-Free Images, Stock Photos &amp; Pictures | Shutterstock"/>
            <p:cNvPicPr/>
            <p:nvPr/>
          </p:nvPicPr>
          <p:blipFill>
            <a:blip r:embed="rId3"/>
            <a:srcRect l="22024" t="20640" r="22024" b="27133"/>
            <a:stretch/>
          </p:blipFill>
          <p:spPr>
            <a:xfrm>
              <a:off x="7323840" y="431280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4" name="Picture 6" descr="Light bulb icon. Energy and thinking symbol. Creative idea and inspiration concept. Isolated vector illustration on white background. lightbulb icon stock illustrations"/>
            <p:cNvPicPr/>
            <p:nvPr/>
          </p:nvPicPr>
          <p:blipFill>
            <a:blip r:embed="rId4"/>
            <a:srcRect l="8954" t="16150" r="58414" b="16636"/>
            <a:stretch/>
          </p:blipFill>
          <p:spPr>
            <a:xfrm>
              <a:off x="6469560" y="4224960"/>
              <a:ext cx="558000" cy="593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5" name="Picture 4" descr="67 Dimmable Icon Royalty-Free Images, Stock Photos &amp; Pictures | Shutterstock"/>
            <p:cNvPicPr/>
            <p:nvPr/>
          </p:nvPicPr>
          <p:blipFill>
            <a:blip r:embed="rId3"/>
            <a:srcRect l="22024" t="20640" r="22024" b="27133"/>
            <a:stretch/>
          </p:blipFill>
          <p:spPr>
            <a:xfrm>
              <a:off x="7323840" y="350928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6" name="TextBox 16"/>
            <p:cNvSpPr/>
            <p:nvPr/>
          </p:nvSpPr>
          <p:spPr>
            <a:xfrm>
              <a:off x="6619680" y="3931920"/>
              <a:ext cx="1208520" cy="3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chemeClr val="dk1"/>
                  </a:solidFill>
                  <a:effectLst/>
                  <a:uFillTx/>
                  <a:latin typeface="Aptos"/>
                </a:rPr>
                <a:t>Chan4 Name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27" name="Group 30"/>
          <p:cNvGrpSpPr/>
          <p:nvPr/>
        </p:nvGrpSpPr>
        <p:grpSpPr>
          <a:xfrm>
            <a:off x="8215920" y="1880280"/>
            <a:ext cx="1754640" cy="3053880"/>
            <a:chOff x="8215920" y="1880280"/>
            <a:chExt cx="1754640" cy="3053880"/>
          </a:xfrm>
        </p:grpSpPr>
        <p:sp>
          <p:nvSpPr>
            <p:cNvPr id="128" name="Rectangle: Rounded Corners 17"/>
            <p:cNvSpPr/>
            <p:nvPr/>
          </p:nvSpPr>
          <p:spPr>
            <a:xfrm>
              <a:off x="8215920" y="1902240"/>
              <a:ext cx="1754640" cy="30319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pic>
          <p:nvPicPr>
            <p:cNvPr id="129" name="Picture 4" descr="67 Dimmable Icon Royalty-Free Images, Stock Photos &amp; Pictures | Shutterstock"/>
            <p:cNvPicPr/>
            <p:nvPr/>
          </p:nvPicPr>
          <p:blipFill>
            <a:blip r:embed="rId3"/>
            <a:srcRect l="22024" t="20640" r="22024" b="27133"/>
            <a:stretch/>
          </p:blipFill>
          <p:spPr>
            <a:xfrm>
              <a:off x="9291600" y="218628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0" name="Picture 6" descr="Light bulb icon. Energy and thinking symbol. Creative idea and inspiration concept. Isolated vector illustration on white background. lightbulb icon stock illustrations"/>
            <p:cNvPicPr/>
            <p:nvPr/>
          </p:nvPicPr>
          <p:blipFill>
            <a:blip r:embed="rId4"/>
            <a:srcRect l="8954" t="16150" r="58414" b="16636"/>
            <a:stretch/>
          </p:blipFill>
          <p:spPr>
            <a:xfrm>
              <a:off x="8437320" y="2098080"/>
              <a:ext cx="558000" cy="5936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1" name="TextBox 20"/>
            <p:cNvSpPr/>
            <p:nvPr/>
          </p:nvSpPr>
          <p:spPr>
            <a:xfrm>
              <a:off x="8555040" y="1880280"/>
              <a:ext cx="1208520" cy="3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chemeClr val="dk1"/>
                  </a:solidFill>
                  <a:effectLst/>
                  <a:uFillTx/>
                  <a:latin typeface="Aptos"/>
                </a:rPr>
                <a:t>Chan1 Name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32" name="Picture 4" descr="67 Dimmable Icon Royalty-Free Images, Stock Photos &amp; Pictures | Shutterstock"/>
            <p:cNvPicPr/>
            <p:nvPr/>
          </p:nvPicPr>
          <p:blipFill>
            <a:blip r:embed="rId3"/>
            <a:srcRect l="22024" t="20640" r="22024" b="27133"/>
            <a:stretch/>
          </p:blipFill>
          <p:spPr>
            <a:xfrm>
              <a:off x="9291600" y="292032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3" name="Picture 6" descr="Light bulb icon. Energy and thinking symbol. Creative idea and inspiration concept. Isolated vector illustration on white background. lightbulb icon stock illustrations"/>
            <p:cNvPicPr/>
            <p:nvPr/>
          </p:nvPicPr>
          <p:blipFill>
            <a:blip r:embed="rId4"/>
            <a:srcRect l="8954" t="16150" r="58414" b="16636"/>
            <a:stretch/>
          </p:blipFill>
          <p:spPr>
            <a:xfrm>
              <a:off x="8437320" y="2866680"/>
              <a:ext cx="558000" cy="5936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4" name="TextBox 23"/>
            <p:cNvSpPr/>
            <p:nvPr/>
          </p:nvSpPr>
          <p:spPr>
            <a:xfrm>
              <a:off x="8555040" y="2621160"/>
              <a:ext cx="1208520" cy="3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chemeClr val="dk1"/>
                  </a:solidFill>
                  <a:effectLst/>
                  <a:uFillTx/>
                  <a:latin typeface="Aptos"/>
                </a:rPr>
                <a:t>Chan2 Name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35" name="Picture 4" descr="67 Dimmable Icon Royalty-Free Images, Stock Photos &amp; Pictures | Shutterstock"/>
            <p:cNvPicPr/>
            <p:nvPr/>
          </p:nvPicPr>
          <p:blipFill>
            <a:blip r:embed="rId3"/>
            <a:srcRect l="22024" t="20640" r="22024" b="27133"/>
            <a:stretch/>
          </p:blipFill>
          <p:spPr>
            <a:xfrm>
              <a:off x="9322920" y="369468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6" name="Picture 6" descr="Light bulb icon. Energy and thinking symbol. Creative idea and inspiration concept. Isolated vector illustration on white background. lightbulb icon stock illustrations"/>
            <p:cNvPicPr/>
            <p:nvPr/>
          </p:nvPicPr>
          <p:blipFill>
            <a:blip r:embed="rId4"/>
            <a:srcRect l="8954" t="16150" r="58414" b="16636"/>
            <a:stretch/>
          </p:blipFill>
          <p:spPr>
            <a:xfrm>
              <a:off x="8468640" y="3606840"/>
              <a:ext cx="558000" cy="5936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7" name="TextBox 26"/>
            <p:cNvSpPr/>
            <p:nvPr/>
          </p:nvSpPr>
          <p:spPr>
            <a:xfrm>
              <a:off x="8586360" y="3367800"/>
              <a:ext cx="1208520" cy="3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chemeClr val="dk1"/>
                  </a:solidFill>
                  <a:effectLst/>
                  <a:uFillTx/>
                  <a:latin typeface="Aptos"/>
                </a:rPr>
                <a:t>Chan3 Name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38" name="Picture 4" descr="67 Dimmable Icon Royalty-Free Images, Stock Photos &amp; Pictures | Shutterstock"/>
            <p:cNvPicPr/>
            <p:nvPr/>
          </p:nvPicPr>
          <p:blipFill>
            <a:blip r:embed="rId3"/>
            <a:srcRect l="22024" t="20640" r="22024" b="27133"/>
            <a:stretch/>
          </p:blipFill>
          <p:spPr>
            <a:xfrm>
              <a:off x="9322920" y="442548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9" name="Picture 6" descr="Light bulb icon. Energy and thinking symbol. Creative idea and inspiration concept. Isolated vector illustration on white background. lightbulb icon stock illustrations"/>
            <p:cNvPicPr/>
            <p:nvPr/>
          </p:nvPicPr>
          <p:blipFill>
            <a:blip r:embed="rId4"/>
            <a:srcRect l="8954" t="16150" r="58414" b="16636"/>
            <a:stretch/>
          </p:blipFill>
          <p:spPr>
            <a:xfrm>
              <a:off x="8468640" y="4337280"/>
              <a:ext cx="558000" cy="5936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0" name="TextBox 29"/>
            <p:cNvSpPr/>
            <p:nvPr/>
          </p:nvSpPr>
          <p:spPr>
            <a:xfrm>
              <a:off x="8586360" y="4112280"/>
              <a:ext cx="1208520" cy="3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chemeClr val="dk1"/>
                  </a:solidFill>
                  <a:effectLst/>
                  <a:uFillTx/>
                  <a:latin typeface="Aptos"/>
                </a:rPr>
                <a:t>Chan4 Name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41" name="Group 31"/>
          <p:cNvGrpSpPr/>
          <p:nvPr/>
        </p:nvGrpSpPr>
        <p:grpSpPr>
          <a:xfrm>
            <a:off x="10161360" y="1902240"/>
            <a:ext cx="1754640" cy="3031920"/>
            <a:chOff x="10161360" y="1902240"/>
            <a:chExt cx="1754640" cy="3031920"/>
          </a:xfrm>
        </p:grpSpPr>
        <p:sp>
          <p:nvSpPr>
            <p:cNvPr id="142" name="Rectangle: Rounded Corners 32"/>
            <p:cNvSpPr/>
            <p:nvPr/>
          </p:nvSpPr>
          <p:spPr>
            <a:xfrm>
              <a:off x="10161360" y="1902240"/>
              <a:ext cx="1754640" cy="30319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pic>
          <p:nvPicPr>
            <p:cNvPr id="143" name="Picture 33" descr="Color wheel - Wikipedia"/>
            <p:cNvPicPr/>
            <p:nvPr/>
          </p:nvPicPr>
          <p:blipFill>
            <a:blip r:embed="rId2"/>
            <a:stretch/>
          </p:blipFill>
          <p:spPr>
            <a:xfrm>
              <a:off x="10388880" y="2316960"/>
              <a:ext cx="1299240" cy="12992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4" name="TextBox 34"/>
            <p:cNvSpPr/>
            <p:nvPr/>
          </p:nvSpPr>
          <p:spPr>
            <a:xfrm>
              <a:off x="10237680" y="2006280"/>
              <a:ext cx="1276200" cy="36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800" b="0" u="none" strike="noStrike">
                  <a:solidFill>
                    <a:schemeClr val="dk1"/>
                  </a:solidFill>
                  <a:effectLst/>
                  <a:uFillTx/>
                  <a:latin typeface="Aptos"/>
                </a:rPr>
                <a:t>RGB Name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45" name="Picture 35" descr="67 Dimmable Icon Royalty-Free Images, Stock Photos &amp; Pictures | Shutterstock"/>
            <p:cNvPicPr/>
            <p:nvPr/>
          </p:nvPicPr>
          <p:blipFill>
            <a:blip r:embed="rId3"/>
            <a:srcRect l="22024" t="20640" r="22024" b="27133"/>
            <a:stretch/>
          </p:blipFill>
          <p:spPr>
            <a:xfrm>
              <a:off x="11237040" y="431280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6" name="Picture 6" descr="Light bulb icon. Energy and thinking symbol. Creative idea and inspiration concept. Isolated vector illustration on white background. lightbulb icon stock illustrations"/>
            <p:cNvPicPr/>
            <p:nvPr/>
          </p:nvPicPr>
          <p:blipFill>
            <a:blip r:embed="rId4"/>
            <a:srcRect l="8954" t="16150" r="58414" b="16636"/>
            <a:stretch/>
          </p:blipFill>
          <p:spPr>
            <a:xfrm>
              <a:off x="10382760" y="4224960"/>
              <a:ext cx="558000" cy="593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7" name="Picture 4" descr="67 Dimmable Icon Royalty-Free Images, Stock Photos &amp; Pictures | Shutterstock"/>
            <p:cNvPicPr/>
            <p:nvPr/>
          </p:nvPicPr>
          <p:blipFill>
            <a:blip r:embed="rId3"/>
            <a:srcRect l="22024" t="20640" r="22024" b="27133"/>
            <a:stretch/>
          </p:blipFill>
          <p:spPr>
            <a:xfrm>
              <a:off x="11237040" y="350928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8" name="TextBox 38"/>
            <p:cNvSpPr/>
            <p:nvPr/>
          </p:nvSpPr>
          <p:spPr>
            <a:xfrm>
              <a:off x="10532880" y="3931920"/>
              <a:ext cx="1208520" cy="3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chemeClr val="dk1"/>
                  </a:solidFill>
                  <a:effectLst/>
                  <a:uFillTx/>
                  <a:latin typeface="Aptos"/>
                </a:rPr>
                <a:t>Chan4 Name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9" name="TextBox 39"/>
          <p:cNvSpPr/>
          <p:nvPr/>
        </p:nvSpPr>
        <p:spPr>
          <a:xfrm>
            <a:off x="3079440" y="272160"/>
            <a:ext cx="6501600" cy="52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Application Operating Page Sequences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40"/>
          <p:cNvSpPr/>
          <p:nvPr/>
        </p:nvSpPr>
        <p:spPr>
          <a:xfrm>
            <a:off x="4315680" y="1435320"/>
            <a:ext cx="18097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LED Controller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41"/>
          <p:cNvSpPr/>
          <p:nvPr/>
        </p:nvSpPr>
        <p:spPr>
          <a:xfrm>
            <a:off x="6248160" y="1435320"/>
            <a:ext cx="18097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LED Controller 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42"/>
          <p:cNvSpPr/>
          <p:nvPr/>
        </p:nvSpPr>
        <p:spPr>
          <a:xfrm>
            <a:off x="8160480" y="1427040"/>
            <a:ext cx="18097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LED Controller 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43"/>
          <p:cNvSpPr/>
          <p:nvPr/>
        </p:nvSpPr>
        <p:spPr>
          <a:xfrm>
            <a:off x="10079280" y="1429560"/>
            <a:ext cx="1809720" cy="64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LED Controller 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: Rounded Corners 48"/>
          <p:cNvSpPr/>
          <p:nvPr/>
        </p:nvSpPr>
        <p:spPr>
          <a:xfrm>
            <a:off x="2340000" y="188028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5" name="TextBox 49"/>
          <p:cNvSpPr/>
          <p:nvPr/>
        </p:nvSpPr>
        <p:spPr>
          <a:xfrm>
            <a:off x="2543400" y="214524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50"/>
          <p:cNvSpPr/>
          <p:nvPr/>
        </p:nvSpPr>
        <p:spPr>
          <a:xfrm>
            <a:off x="2543400" y="2692080"/>
            <a:ext cx="1348200" cy="369000"/>
          </a:xfrm>
          <a:prstGeom prst="rect">
            <a:avLst/>
          </a:prstGeom>
          <a:noFill/>
          <a:ln w="22225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51"/>
          <p:cNvSpPr/>
          <p:nvPr/>
        </p:nvSpPr>
        <p:spPr>
          <a:xfrm>
            <a:off x="2543400" y="327312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52"/>
          <p:cNvSpPr/>
          <p:nvPr/>
        </p:nvSpPr>
        <p:spPr>
          <a:xfrm>
            <a:off x="2543400" y="38073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4" descr="Thin line settings gear icon Royalty Free Vector Image"/>
          <p:cNvPicPr/>
          <p:nvPr/>
        </p:nvPicPr>
        <p:blipFill>
          <a:blip r:embed="rId5"/>
          <a:srcRect l="25344" t="23031" r="24908" b="30336"/>
          <a:stretch/>
        </p:blipFill>
        <p:spPr>
          <a:xfrm>
            <a:off x="2999520" y="4332240"/>
            <a:ext cx="435960" cy="44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Box 54"/>
          <p:cNvSpPr/>
          <p:nvPr/>
        </p:nvSpPr>
        <p:spPr>
          <a:xfrm>
            <a:off x="312840" y="5038200"/>
            <a:ext cx="1754640" cy="147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Splash Screen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On App Open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Not in screen rotation in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55"/>
          <p:cNvSpPr/>
          <p:nvPr/>
        </p:nvSpPr>
        <p:spPr>
          <a:xfrm>
            <a:off x="2355840" y="5099760"/>
            <a:ext cx="9560160" cy="9218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Swipe in app left or right to advance to next screen page rotating back from CTL 4 to Scene page on left swipe. Visa-versa, a right swipe will go from the Scene page to the CTL 4 page.</a:t>
            </a:r>
          </a:p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Alternatively, the screens could be selected from a drop-down list.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2" name="Group 59"/>
          <p:cNvGrpSpPr/>
          <p:nvPr/>
        </p:nvGrpSpPr>
        <p:grpSpPr>
          <a:xfrm>
            <a:off x="343440" y="1875600"/>
            <a:ext cx="1754640" cy="3031920"/>
            <a:chOff x="343440" y="1875600"/>
            <a:chExt cx="1754640" cy="3031920"/>
          </a:xfrm>
        </p:grpSpPr>
        <p:sp>
          <p:nvSpPr>
            <p:cNvPr id="163" name="Rectangle: Rounded Corners 56"/>
            <p:cNvSpPr/>
            <p:nvPr/>
          </p:nvSpPr>
          <p:spPr>
            <a:xfrm>
              <a:off x="343440" y="1875600"/>
              <a:ext cx="1754640" cy="3031920"/>
            </a:xfrm>
            <a:prstGeom prst="roundRect">
              <a:avLst>
                <a:gd name="adj" fmla="val 16667"/>
              </a:avLst>
            </a:prstGeom>
            <a:solidFill>
              <a:schemeClr val="tx1"/>
            </a:solidFill>
            <a:ln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pic>
          <p:nvPicPr>
            <p:cNvPr id="164" name="Picture 57" descr="A white outline of a beard and sunglasses&#10;&#10;AI-generated content may be incorrect."/>
            <p:cNvPicPr/>
            <p:nvPr/>
          </p:nvPicPr>
          <p:blipFill>
            <a:blip r:embed="rId6"/>
            <a:stretch/>
          </p:blipFill>
          <p:spPr>
            <a:xfrm>
              <a:off x="348480" y="2076120"/>
              <a:ext cx="1742760" cy="22118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65" name="TextBox 58"/>
            <p:cNvSpPr/>
            <p:nvPr/>
          </p:nvSpPr>
          <p:spPr>
            <a:xfrm>
              <a:off x="388800" y="4239720"/>
              <a:ext cx="1702440" cy="645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 defTabSz="914400">
                <a:lnSpc>
                  <a:spcPct val="100000"/>
                </a:lnSpc>
              </a:pPr>
              <a:r>
                <a:rPr lang="en-US" sz="1800" b="1" u="none" strike="noStrike">
                  <a:solidFill>
                    <a:srgbClr val="92D050"/>
                  </a:solidFill>
                  <a:effectLst/>
                  <a:uFillTx/>
                  <a:latin typeface="Eras Bold ITC"/>
                </a:rPr>
                <a:t>BoonDocks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914400">
                <a:lnSpc>
                  <a:spcPct val="100000"/>
                </a:lnSpc>
              </a:pPr>
              <a:r>
                <a:rPr lang="en-US" sz="1800" b="1" u="none" strike="noStrike">
                  <a:solidFill>
                    <a:srgbClr val="92D050"/>
                  </a:solidFill>
                  <a:effectLst/>
                  <a:uFillTx/>
                  <a:latin typeface="Eras Bold ITC"/>
                </a:rPr>
                <a:t>LED Controls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6" name="TextBox 60"/>
          <p:cNvSpPr/>
          <p:nvPr/>
        </p:nvSpPr>
        <p:spPr>
          <a:xfrm>
            <a:off x="2340000" y="1429560"/>
            <a:ext cx="175464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 MGMT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: Rounded Corners 1"/>
          <p:cNvSpPr/>
          <p:nvPr/>
        </p:nvSpPr>
        <p:spPr>
          <a:xfrm>
            <a:off x="566640" y="177732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8" name="TextBox 2"/>
          <p:cNvSpPr/>
          <p:nvPr/>
        </p:nvSpPr>
        <p:spPr>
          <a:xfrm>
            <a:off x="3377520" y="171000"/>
            <a:ext cx="5903280" cy="52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 Selection and Screen Saving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3"/>
          <p:cNvSpPr/>
          <p:nvPr/>
        </p:nvSpPr>
        <p:spPr>
          <a:xfrm>
            <a:off x="769680" y="204264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4"/>
          <p:cNvSpPr/>
          <p:nvPr/>
        </p:nvSpPr>
        <p:spPr>
          <a:xfrm>
            <a:off x="769680" y="2589480"/>
            <a:ext cx="1348200" cy="369000"/>
          </a:xfrm>
          <a:prstGeom prst="rect">
            <a:avLst/>
          </a:prstGeom>
          <a:noFill/>
          <a:ln w="22225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5"/>
          <p:cNvSpPr/>
          <p:nvPr/>
        </p:nvSpPr>
        <p:spPr>
          <a:xfrm>
            <a:off x="769680" y="31701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6"/>
          <p:cNvSpPr/>
          <p:nvPr/>
        </p:nvSpPr>
        <p:spPr>
          <a:xfrm>
            <a:off x="769680" y="37047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3" name="Picture 4" descr="Thin line settings gear icon Royalty Free Vector Image"/>
          <p:cNvPicPr/>
          <p:nvPr/>
        </p:nvPicPr>
        <p:blipFill>
          <a:blip r:embed="rId2"/>
          <a:srcRect l="25344" t="23031" r="24908" b="30336"/>
          <a:stretch/>
        </p:blipFill>
        <p:spPr>
          <a:xfrm>
            <a:off x="1225800" y="4229640"/>
            <a:ext cx="435960" cy="441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Picture 6" descr="Keyboard of smartphone icon. Mobile phone keypad sign. Screen smartphone keyboard  symbol. flat style 37740706 Vector Art at Vecteezy"/>
          <p:cNvPicPr/>
          <p:nvPr/>
        </p:nvPicPr>
        <p:blipFill>
          <a:blip r:embed="rId3"/>
          <a:stretch/>
        </p:blipFill>
        <p:spPr>
          <a:xfrm>
            <a:off x="6834600" y="3729600"/>
            <a:ext cx="1754640" cy="82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Rectangle: Rounded Corners 16"/>
          <p:cNvSpPr/>
          <p:nvPr/>
        </p:nvSpPr>
        <p:spPr>
          <a:xfrm>
            <a:off x="6839640" y="175788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6" name="TextBox 17"/>
          <p:cNvSpPr/>
          <p:nvPr/>
        </p:nvSpPr>
        <p:spPr>
          <a:xfrm>
            <a:off x="7066800" y="2022840"/>
            <a:ext cx="1348200" cy="367878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Scene 2</a:t>
            </a:r>
          </a:p>
        </p:txBody>
      </p:sp>
      <p:sp>
        <p:nvSpPr>
          <p:cNvPr id="177" name="TextBox 18"/>
          <p:cNvSpPr/>
          <p:nvPr/>
        </p:nvSpPr>
        <p:spPr>
          <a:xfrm>
            <a:off x="7066800" y="259992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User Name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9"/>
          <p:cNvSpPr/>
          <p:nvPr/>
        </p:nvSpPr>
        <p:spPr>
          <a:xfrm>
            <a:off x="10536120" y="617400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Save 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: Rounded Corners 20"/>
          <p:cNvSpPr/>
          <p:nvPr/>
        </p:nvSpPr>
        <p:spPr>
          <a:xfrm>
            <a:off x="2998080" y="177732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0" name="TextBox 21"/>
          <p:cNvSpPr/>
          <p:nvPr/>
        </p:nvSpPr>
        <p:spPr>
          <a:xfrm>
            <a:off x="3201120" y="204264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22"/>
          <p:cNvSpPr/>
          <p:nvPr/>
        </p:nvSpPr>
        <p:spPr>
          <a:xfrm>
            <a:off x="3201120" y="2589480"/>
            <a:ext cx="1348200" cy="369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23"/>
          <p:cNvSpPr/>
          <p:nvPr/>
        </p:nvSpPr>
        <p:spPr>
          <a:xfrm>
            <a:off x="3201120" y="31701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24"/>
          <p:cNvSpPr/>
          <p:nvPr/>
        </p:nvSpPr>
        <p:spPr>
          <a:xfrm>
            <a:off x="3201120" y="37047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" name="Picture 4" descr="Thin line settings gear icon Royalty Free Vector Image"/>
          <p:cNvPicPr/>
          <p:nvPr/>
        </p:nvPicPr>
        <p:blipFill>
          <a:blip r:embed="rId2"/>
          <a:srcRect l="25344" t="23031" r="24908" b="30336"/>
          <a:stretch/>
        </p:blipFill>
        <p:spPr>
          <a:xfrm>
            <a:off x="3657240" y="4229640"/>
            <a:ext cx="435960" cy="44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" name="TextBox 1024"/>
          <p:cNvSpPr/>
          <p:nvPr/>
        </p:nvSpPr>
        <p:spPr>
          <a:xfrm>
            <a:off x="566640" y="793080"/>
            <a:ext cx="4186080" cy="92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On a touch, the scene box turns green to indicate it is selected and will remain selected.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1028"/>
          <p:cNvSpPr/>
          <p:nvPr/>
        </p:nvSpPr>
        <p:spPr>
          <a:xfrm>
            <a:off x="566640" y="4929480"/>
            <a:ext cx="4186080" cy="119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Haptic response  as scene is touched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Highlight text box green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– ringer “ON”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Vibrate – ringer “OFF”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1030"/>
          <p:cNvSpPr/>
          <p:nvPr/>
        </p:nvSpPr>
        <p:spPr>
          <a:xfrm>
            <a:off x="10507320" y="507492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1031"/>
          <p:cNvSpPr/>
          <p:nvPr/>
        </p:nvSpPr>
        <p:spPr>
          <a:xfrm>
            <a:off x="10536120" y="56127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User Name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1032"/>
          <p:cNvSpPr/>
          <p:nvPr/>
        </p:nvSpPr>
        <p:spPr>
          <a:xfrm>
            <a:off x="7066800" y="314424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Save 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1033"/>
          <p:cNvSpPr/>
          <p:nvPr/>
        </p:nvSpPr>
        <p:spPr>
          <a:xfrm>
            <a:off x="6710606" y="5070960"/>
            <a:ext cx="3749914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This is a </a:t>
            </a:r>
            <a:r>
              <a:rPr lang="en-US" dirty="0">
                <a:solidFill>
                  <a:schemeClr val="dk1"/>
                </a:solidFill>
                <a:latin typeface="Aptos"/>
              </a:rPr>
              <a:t>dropdown to select a scene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1034"/>
          <p:cNvSpPr/>
          <p:nvPr/>
        </p:nvSpPr>
        <p:spPr>
          <a:xfrm>
            <a:off x="7182000" y="5612760"/>
            <a:ext cx="330444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User name input from keyboard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035"/>
          <p:cNvSpPr/>
          <p:nvPr/>
        </p:nvSpPr>
        <p:spPr>
          <a:xfrm>
            <a:off x="5104440" y="6161760"/>
            <a:ext cx="538164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Save to pico &amp; return to Scene page green highlighted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: Rounded Corners 1036"/>
          <p:cNvSpPr/>
          <p:nvPr/>
        </p:nvSpPr>
        <p:spPr>
          <a:xfrm>
            <a:off x="10143360" y="176004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1" name="TextBox 1037"/>
          <p:cNvSpPr/>
          <p:nvPr/>
        </p:nvSpPr>
        <p:spPr>
          <a:xfrm>
            <a:off x="10346400" y="20253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1038"/>
          <p:cNvSpPr/>
          <p:nvPr/>
        </p:nvSpPr>
        <p:spPr>
          <a:xfrm>
            <a:off x="10346400" y="2571840"/>
            <a:ext cx="1348200" cy="369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1039"/>
          <p:cNvSpPr/>
          <p:nvPr/>
        </p:nvSpPr>
        <p:spPr>
          <a:xfrm>
            <a:off x="10346400" y="315288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1040"/>
          <p:cNvSpPr/>
          <p:nvPr/>
        </p:nvSpPr>
        <p:spPr>
          <a:xfrm>
            <a:off x="10346400" y="368712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5" name="Picture 4" descr="Thin line settings gear icon Royalty Free Vector Image"/>
          <p:cNvPicPr/>
          <p:nvPr/>
        </p:nvPicPr>
        <p:blipFill>
          <a:blip r:embed="rId2"/>
          <a:srcRect l="25344" t="23031" r="24908" b="30336"/>
          <a:stretch/>
        </p:blipFill>
        <p:spPr>
          <a:xfrm>
            <a:off x="10802520" y="4212000"/>
            <a:ext cx="435960" cy="441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6" name="Picture 4" descr="Thin line settings gear icon Royalty Free Vector Image"/>
          <p:cNvPicPr/>
          <p:nvPr/>
        </p:nvPicPr>
        <p:blipFill>
          <a:blip r:embed="rId2"/>
          <a:srcRect l="25344" t="23031" r="24908" b="30336"/>
          <a:stretch/>
        </p:blipFill>
        <p:spPr>
          <a:xfrm>
            <a:off x="685440" y="6199200"/>
            <a:ext cx="435960" cy="44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TextBox 1043"/>
          <p:cNvSpPr/>
          <p:nvPr/>
        </p:nvSpPr>
        <p:spPr>
          <a:xfrm>
            <a:off x="1121760" y="6154920"/>
            <a:ext cx="3206520" cy="64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Touching this icon takes you to setup page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Flowchart: Merge 1">
            <a:extLst>
              <a:ext uri="{FF2B5EF4-FFF2-40B4-BE49-F238E27FC236}">
                <a16:creationId xmlns:a16="http://schemas.microsoft.com/office/drawing/2014/main" id="{04E3BA20-AC4D-1D5F-81AF-C31739483B21}"/>
              </a:ext>
            </a:extLst>
          </p:cNvPr>
          <p:cNvSpPr/>
          <p:nvPr/>
        </p:nvSpPr>
        <p:spPr>
          <a:xfrm>
            <a:off x="8093600" y="2064788"/>
            <a:ext cx="296827" cy="249465"/>
          </a:xfrm>
          <a:prstGeom prst="flowChartMerg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9B3D982D-D20C-72C2-ED7A-F7403585DD78}"/>
              </a:ext>
            </a:extLst>
          </p:cNvPr>
          <p:cNvSpPr/>
          <p:nvPr/>
        </p:nvSpPr>
        <p:spPr>
          <a:xfrm>
            <a:off x="8985672" y="3028608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Rectangle: Rounded Corners 2"/>
          <p:cNvSpPr/>
          <p:nvPr/>
        </p:nvSpPr>
        <p:spPr>
          <a:xfrm>
            <a:off x="810720" y="2256480"/>
            <a:ext cx="1754640" cy="303192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209" name="Picture 1" descr="A white outline of a beard and sunglasses&#10;&#10;AI-generated content may be incorrect."/>
          <p:cNvPicPr/>
          <p:nvPr/>
        </p:nvPicPr>
        <p:blipFill>
          <a:blip r:embed="rId2"/>
          <a:stretch/>
        </p:blipFill>
        <p:spPr>
          <a:xfrm>
            <a:off x="815400" y="2456640"/>
            <a:ext cx="1742760" cy="221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TextBox 3"/>
          <p:cNvSpPr/>
          <p:nvPr/>
        </p:nvSpPr>
        <p:spPr>
          <a:xfrm>
            <a:off x="856080" y="4620600"/>
            <a:ext cx="1702440" cy="64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Eras Bold ITC"/>
              </a:rPr>
              <a:t>BoonDocks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Eras Bold ITC"/>
              </a:rPr>
              <a:t>LED Controls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4"/>
          <p:cNvSpPr/>
          <p:nvPr/>
        </p:nvSpPr>
        <p:spPr>
          <a:xfrm>
            <a:off x="2754000" y="303120"/>
            <a:ext cx="6683400" cy="52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Splash Screen and Bluetooth Conection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5"/>
          <p:cNvSpPr/>
          <p:nvPr/>
        </p:nvSpPr>
        <p:spPr>
          <a:xfrm>
            <a:off x="810720" y="826200"/>
            <a:ext cx="1747800" cy="119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App start Splash Screen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Cannot swipe out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ectangle: Rounded Corners 6"/>
          <p:cNvSpPr/>
          <p:nvPr/>
        </p:nvSpPr>
        <p:spPr>
          <a:xfrm>
            <a:off x="3311280" y="2256480"/>
            <a:ext cx="1754640" cy="303192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214" name="Picture 7" descr="A white outline of a beard and sunglasses&#10;&#10;AI-generated content may be incorrect."/>
          <p:cNvPicPr/>
          <p:nvPr/>
        </p:nvPicPr>
        <p:blipFill>
          <a:blip r:embed="rId2"/>
          <a:stretch/>
        </p:blipFill>
        <p:spPr>
          <a:xfrm>
            <a:off x="3316320" y="2456640"/>
            <a:ext cx="1742760" cy="221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TextBox 8"/>
          <p:cNvSpPr/>
          <p:nvPr/>
        </p:nvSpPr>
        <p:spPr>
          <a:xfrm>
            <a:off x="3356640" y="4620600"/>
            <a:ext cx="1702440" cy="64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92D050"/>
                </a:solidFill>
                <a:effectLst/>
                <a:uFillTx/>
                <a:latin typeface="Eras Bold ITC"/>
              </a:rPr>
              <a:t>BoonDocks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92D050"/>
                </a:solidFill>
                <a:effectLst/>
                <a:uFillTx/>
                <a:latin typeface="Eras Bold ITC"/>
              </a:rPr>
              <a:t>LED Controls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10"/>
          <p:cNvSpPr/>
          <p:nvPr/>
        </p:nvSpPr>
        <p:spPr>
          <a:xfrm>
            <a:off x="810720" y="5488920"/>
            <a:ext cx="4600524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The App starts, establishes a BT connection, and then </a:t>
            </a:r>
            <a:r>
              <a:rPr lang="en-US" dirty="0">
                <a:solidFill>
                  <a:schemeClr val="dk1"/>
                </a:solidFill>
                <a:latin typeface="Aptos"/>
              </a:rPr>
              <a:t>pauses at the “connected” screen 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 for 3 seconds, and then automatically transitions to the scene selection screen.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12"/>
          <p:cNvSpPr/>
          <p:nvPr/>
        </p:nvSpPr>
        <p:spPr>
          <a:xfrm>
            <a:off x="3311280" y="924723"/>
            <a:ext cx="175464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Bluetooth connected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16"/>
          <p:cNvSpPr/>
          <p:nvPr/>
        </p:nvSpPr>
        <p:spPr>
          <a:xfrm>
            <a:off x="7883280" y="1263960"/>
            <a:ext cx="3934080" cy="202987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System Configuration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1" i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*****NOTE******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After BT connection, the APP will read the system’s stored configuration. This is so that a another/second user to the system will not need to reprogram all the names, scenes etc. 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Box 1"/>
          <p:cNvSpPr/>
          <p:nvPr/>
        </p:nvSpPr>
        <p:spPr>
          <a:xfrm>
            <a:off x="3757680" y="337680"/>
            <a:ext cx="4676400" cy="52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Setup Configuration Screen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Rectangle: Rounded Corners 14"/>
          <p:cNvSpPr/>
          <p:nvPr/>
        </p:nvSpPr>
        <p:spPr>
          <a:xfrm>
            <a:off x="5927040" y="1339919"/>
            <a:ext cx="1948680" cy="4171512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7" name="TextBox 16"/>
          <p:cNvSpPr/>
          <p:nvPr/>
        </p:nvSpPr>
        <p:spPr>
          <a:xfrm>
            <a:off x="6275520" y="1467720"/>
            <a:ext cx="1396800" cy="367878"/>
          </a:xfrm>
          <a:prstGeom prst="rect">
            <a:avLst/>
          </a:prstGeom>
          <a:noFill/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CTL </a:t>
            </a:r>
            <a:r>
              <a:rPr lang="en-US" sz="1800" b="0" i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X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17"/>
          <p:cNvSpPr/>
          <p:nvPr/>
        </p:nvSpPr>
        <p:spPr>
          <a:xfrm>
            <a:off x="6276544" y="24537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Username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18"/>
          <p:cNvSpPr/>
          <p:nvPr/>
        </p:nvSpPr>
        <p:spPr>
          <a:xfrm>
            <a:off x="6262200" y="3029385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Save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Picture 6" descr="Keyboard of smartphone icon. Mobile phone keypad sign. Screen smartphone keyboard  symbol. flat style 37740706 Vector Art at Vecteezy"/>
          <p:cNvPicPr/>
          <p:nvPr/>
        </p:nvPicPr>
        <p:blipFill>
          <a:blip r:embed="rId2"/>
          <a:stretch/>
        </p:blipFill>
        <p:spPr>
          <a:xfrm>
            <a:off x="6058980" y="3905100"/>
            <a:ext cx="1754640" cy="82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Rectangle: Rounded Corners 20"/>
          <p:cNvSpPr/>
          <p:nvPr/>
        </p:nvSpPr>
        <p:spPr>
          <a:xfrm>
            <a:off x="8223480" y="1395721"/>
            <a:ext cx="1754640" cy="411571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2" name="TextBox 21"/>
          <p:cNvSpPr/>
          <p:nvPr/>
        </p:nvSpPr>
        <p:spPr>
          <a:xfrm>
            <a:off x="8423640" y="1494919"/>
            <a:ext cx="1348200" cy="367878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CTL </a:t>
            </a:r>
            <a:r>
              <a:rPr lang="en-US" sz="1800" b="0" i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X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22"/>
          <p:cNvSpPr/>
          <p:nvPr/>
        </p:nvSpPr>
        <p:spPr>
          <a:xfrm>
            <a:off x="8434080" y="2469547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RGB Name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23"/>
          <p:cNvSpPr/>
          <p:nvPr/>
        </p:nvSpPr>
        <p:spPr>
          <a:xfrm>
            <a:off x="8471717" y="3422287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Save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5" name="Picture 6" descr="Keyboard of smartphone icon. Mobile phone keypad sign. Screen smartphone keyboard  symbol. flat style 37740706 Vector Art at Vecteezy"/>
          <p:cNvPicPr/>
          <p:nvPr/>
        </p:nvPicPr>
        <p:blipFill>
          <a:blip r:embed="rId2"/>
          <a:stretch/>
        </p:blipFill>
        <p:spPr>
          <a:xfrm>
            <a:off x="8242395" y="3935188"/>
            <a:ext cx="1754640" cy="82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" name="TextBox 25"/>
          <p:cNvSpPr/>
          <p:nvPr/>
        </p:nvSpPr>
        <p:spPr>
          <a:xfrm>
            <a:off x="8471716" y="2931669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+1 Name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ectangle: Rounded Corners 26"/>
          <p:cNvSpPr/>
          <p:nvPr/>
        </p:nvSpPr>
        <p:spPr>
          <a:xfrm>
            <a:off x="10277280" y="1339919"/>
            <a:ext cx="1754640" cy="48247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8" name="TextBox 28"/>
          <p:cNvSpPr/>
          <p:nvPr/>
        </p:nvSpPr>
        <p:spPr>
          <a:xfrm>
            <a:off x="10531018" y="2426400"/>
            <a:ext cx="1348200" cy="27648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CH 1 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29"/>
          <p:cNvSpPr/>
          <p:nvPr/>
        </p:nvSpPr>
        <p:spPr>
          <a:xfrm>
            <a:off x="10507167" y="3271490"/>
            <a:ext cx="1348200" cy="27648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CH 3 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Picture 6" descr="Keyboard of smartphone icon. Mobile phone keypad sign. Screen smartphone keyboard  symbol. flat style 37740706 Vector Art at Vecteezy"/>
          <p:cNvPicPr/>
          <p:nvPr/>
        </p:nvPicPr>
        <p:blipFill>
          <a:blip r:embed="rId2"/>
          <a:stretch/>
        </p:blipFill>
        <p:spPr>
          <a:xfrm>
            <a:off x="10273226" y="4582800"/>
            <a:ext cx="1754640" cy="82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TextBox 4095"/>
          <p:cNvSpPr/>
          <p:nvPr/>
        </p:nvSpPr>
        <p:spPr>
          <a:xfrm>
            <a:off x="10531018" y="2834387"/>
            <a:ext cx="1348200" cy="27648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CH 2 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4096"/>
          <p:cNvSpPr/>
          <p:nvPr/>
        </p:nvSpPr>
        <p:spPr>
          <a:xfrm>
            <a:off x="10531018" y="3708593"/>
            <a:ext cx="1348200" cy="27648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CH 4 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4100"/>
          <p:cNvSpPr/>
          <p:nvPr/>
        </p:nvSpPr>
        <p:spPr>
          <a:xfrm>
            <a:off x="347999" y="1774636"/>
            <a:ext cx="4537151" cy="34148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dk1"/>
                </a:solidFill>
                <a:latin typeface="Aptos"/>
              </a:rPr>
              <a:t>The top drop down selects the controller.</a:t>
            </a:r>
          </a:p>
          <a:p>
            <a:pPr marL="285750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The second drop down selects the type of the controller. </a:t>
            </a:r>
          </a:p>
          <a:p>
            <a:pPr marL="285750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dk1"/>
                </a:solidFill>
                <a:latin typeface="Aptos"/>
              </a:rPr>
              <a:t>The type of controller selected changes the layout of the configuration screen so that the appropriate names can set </a:t>
            </a:r>
            <a:r>
              <a:rPr lang="en-US" dirty="0" err="1">
                <a:solidFill>
                  <a:schemeClr val="dk1"/>
                </a:solidFill>
                <a:latin typeface="Aptos"/>
              </a:rPr>
              <a:t>set</a:t>
            </a:r>
            <a:r>
              <a:rPr lang="en-US" dirty="0">
                <a:solidFill>
                  <a:schemeClr val="dk1"/>
                </a:solidFill>
                <a:latin typeface="Aptos"/>
              </a:rPr>
              <a:t>.</a:t>
            </a:r>
          </a:p>
          <a:p>
            <a:pPr marL="285750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The home button returns to the operational screen for the selected controller.</a:t>
            </a:r>
          </a:p>
          <a:p>
            <a:pPr marL="285750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dk1"/>
                </a:solidFill>
                <a:latin typeface="Aptos"/>
              </a:rPr>
              <a:t>The names are text entry controls.</a:t>
            </a:r>
          </a:p>
          <a:p>
            <a:pPr marL="285750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The save </a:t>
            </a:r>
            <a:r>
              <a:rPr lang="en-US" dirty="0">
                <a:solidFill>
                  <a:schemeClr val="dk1"/>
                </a:solidFill>
                <a:latin typeface="Aptos"/>
              </a:rPr>
              <a:t>button saves the controller type and name(s) to the </a:t>
            </a:r>
            <a:r>
              <a:rPr lang="en-US" dirty="0" err="1">
                <a:solidFill>
                  <a:schemeClr val="dk1"/>
                </a:solidFill>
                <a:latin typeface="Aptos"/>
              </a:rPr>
              <a:t>pico</a:t>
            </a:r>
            <a:r>
              <a:rPr lang="en-US" dirty="0">
                <a:solidFill>
                  <a:schemeClr val="dk1"/>
                </a:solidFill>
                <a:latin typeface="Aptos"/>
              </a:rPr>
              <a:t>.</a:t>
            </a:r>
            <a:endParaRPr lang="en-US" sz="1800" b="0" u="none" strike="noStrike" dirty="0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59" name="TextBox 4107"/>
          <p:cNvSpPr/>
          <p:nvPr/>
        </p:nvSpPr>
        <p:spPr>
          <a:xfrm>
            <a:off x="10531018" y="4106033"/>
            <a:ext cx="1348200" cy="27648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Save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4" descr="Home - Free buildings icons">
            <a:extLst>
              <a:ext uri="{FF2B5EF4-FFF2-40B4-BE49-F238E27FC236}">
                <a16:creationId xmlns:a16="http://schemas.microsoft.com/office/drawing/2014/main" id="{14AB22F0-54C3-A1CF-046A-01A992203FE6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697080" y="4862923"/>
            <a:ext cx="553680" cy="55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Flowchart: Merge 2">
            <a:extLst>
              <a:ext uri="{FF2B5EF4-FFF2-40B4-BE49-F238E27FC236}">
                <a16:creationId xmlns:a16="http://schemas.microsoft.com/office/drawing/2014/main" id="{645B654A-27F9-BA78-62A7-581A9BC601E1}"/>
              </a:ext>
            </a:extLst>
          </p:cNvPr>
          <p:cNvSpPr/>
          <p:nvPr/>
        </p:nvSpPr>
        <p:spPr>
          <a:xfrm>
            <a:off x="9410122" y="1544452"/>
            <a:ext cx="269438" cy="277560"/>
          </a:xfrm>
          <a:prstGeom prst="flowChartMerg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81C205-456A-49A7-0DBE-4CD00ECAA724}"/>
              </a:ext>
            </a:extLst>
          </p:cNvPr>
          <p:cNvSpPr txBox="1"/>
          <p:nvPr/>
        </p:nvSpPr>
        <p:spPr>
          <a:xfrm>
            <a:off x="6275520" y="1984680"/>
            <a:ext cx="1349224" cy="369332"/>
          </a:xfrm>
          <a:prstGeom prst="rect">
            <a:avLst/>
          </a:prstGeom>
          <a:noFill/>
          <a:ln>
            <a:solidFill>
              <a:srgbClr val="156082">
                <a:shade val="15000"/>
              </a:srgb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RGBW</a:t>
            </a:r>
          </a:p>
        </p:txBody>
      </p:sp>
      <p:sp>
        <p:nvSpPr>
          <p:cNvPr id="6" name="Flowchart: Merge 5">
            <a:extLst>
              <a:ext uri="{FF2B5EF4-FFF2-40B4-BE49-F238E27FC236}">
                <a16:creationId xmlns:a16="http://schemas.microsoft.com/office/drawing/2014/main" id="{508F6536-BE0C-AE71-EC49-0A28F6A1197A}"/>
              </a:ext>
            </a:extLst>
          </p:cNvPr>
          <p:cNvSpPr/>
          <p:nvPr/>
        </p:nvSpPr>
        <p:spPr>
          <a:xfrm>
            <a:off x="7318147" y="2045680"/>
            <a:ext cx="269438" cy="277560"/>
          </a:xfrm>
          <a:prstGeom prst="flowChartMerg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4" descr="Home - Free buildings icons">
            <a:extLst>
              <a:ext uri="{FF2B5EF4-FFF2-40B4-BE49-F238E27FC236}">
                <a16:creationId xmlns:a16="http://schemas.microsoft.com/office/drawing/2014/main" id="{F2032BC4-A13D-0C61-0D9C-969B0EF21A36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8868977" y="4872988"/>
            <a:ext cx="553680" cy="553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" name="Picture 4" descr="Home - Free buildings icons">
            <a:extLst>
              <a:ext uri="{FF2B5EF4-FFF2-40B4-BE49-F238E27FC236}">
                <a16:creationId xmlns:a16="http://schemas.microsoft.com/office/drawing/2014/main" id="{151B7451-D410-1799-D927-13ACF2B5D408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0893060" y="5537180"/>
            <a:ext cx="553680" cy="55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534BA30-5C9B-F71B-01B7-D9825EF1FDDB}"/>
              </a:ext>
            </a:extLst>
          </p:cNvPr>
          <p:cNvSpPr txBox="1"/>
          <p:nvPr/>
        </p:nvSpPr>
        <p:spPr>
          <a:xfrm>
            <a:off x="8432789" y="1958971"/>
            <a:ext cx="1339051" cy="369332"/>
          </a:xfrm>
          <a:prstGeom prst="rect">
            <a:avLst/>
          </a:prstGeom>
          <a:noFill/>
          <a:ln>
            <a:solidFill>
              <a:srgbClr val="156082">
                <a:shade val="15000"/>
              </a:srgb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RGB+1</a:t>
            </a:r>
          </a:p>
        </p:txBody>
      </p:sp>
      <p:sp>
        <p:nvSpPr>
          <p:cNvPr id="10" name="Flowchart: Merge 9">
            <a:extLst>
              <a:ext uri="{FF2B5EF4-FFF2-40B4-BE49-F238E27FC236}">
                <a16:creationId xmlns:a16="http://schemas.microsoft.com/office/drawing/2014/main" id="{F2CCE9DF-7694-E28C-84DE-6C3780D0E423}"/>
              </a:ext>
            </a:extLst>
          </p:cNvPr>
          <p:cNvSpPr/>
          <p:nvPr/>
        </p:nvSpPr>
        <p:spPr>
          <a:xfrm>
            <a:off x="9386433" y="2024366"/>
            <a:ext cx="269438" cy="277560"/>
          </a:xfrm>
          <a:prstGeom prst="flowChartMerg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28">
            <a:extLst>
              <a:ext uri="{FF2B5EF4-FFF2-40B4-BE49-F238E27FC236}">
                <a16:creationId xmlns:a16="http://schemas.microsoft.com/office/drawing/2014/main" id="{5AF28212-8610-EA22-2F59-4C9AA6F9A808}"/>
              </a:ext>
            </a:extLst>
          </p:cNvPr>
          <p:cNvSpPr/>
          <p:nvPr/>
        </p:nvSpPr>
        <p:spPr>
          <a:xfrm>
            <a:off x="10495800" y="1940528"/>
            <a:ext cx="1348200" cy="27648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200" dirty="0">
                <a:solidFill>
                  <a:schemeClr val="dk1"/>
                </a:solidFill>
                <a:latin typeface="Aptos"/>
              </a:rPr>
              <a:t>4 Channel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Box 28">
            <a:extLst>
              <a:ext uri="{FF2B5EF4-FFF2-40B4-BE49-F238E27FC236}">
                <a16:creationId xmlns:a16="http://schemas.microsoft.com/office/drawing/2014/main" id="{9502196C-ECCB-36E2-BC32-93D74FB237EC}"/>
              </a:ext>
            </a:extLst>
          </p:cNvPr>
          <p:cNvSpPr/>
          <p:nvPr/>
        </p:nvSpPr>
        <p:spPr>
          <a:xfrm>
            <a:off x="10495800" y="1526022"/>
            <a:ext cx="1348200" cy="27648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CTL X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Flowchart: Merge 12">
            <a:extLst>
              <a:ext uri="{FF2B5EF4-FFF2-40B4-BE49-F238E27FC236}">
                <a16:creationId xmlns:a16="http://schemas.microsoft.com/office/drawing/2014/main" id="{5881E8DE-AEA8-91E0-5D63-99600CB91270}"/>
              </a:ext>
            </a:extLst>
          </p:cNvPr>
          <p:cNvSpPr/>
          <p:nvPr/>
        </p:nvSpPr>
        <p:spPr>
          <a:xfrm>
            <a:off x="7277621" y="1484640"/>
            <a:ext cx="269438" cy="277560"/>
          </a:xfrm>
          <a:prstGeom prst="flowChartMerg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lowchart: Merge 13">
            <a:extLst>
              <a:ext uri="{FF2B5EF4-FFF2-40B4-BE49-F238E27FC236}">
                <a16:creationId xmlns:a16="http://schemas.microsoft.com/office/drawing/2014/main" id="{2EDDA490-4CA6-90D2-21A1-F7DC66ECDD20}"/>
              </a:ext>
            </a:extLst>
          </p:cNvPr>
          <p:cNvSpPr/>
          <p:nvPr/>
        </p:nvSpPr>
        <p:spPr>
          <a:xfrm>
            <a:off x="11484713" y="1579933"/>
            <a:ext cx="263047" cy="160308"/>
          </a:xfrm>
          <a:prstGeom prst="flowChartMerg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lowchart: Merge 14">
            <a:extLst>
              <a:ext uri="{FF2B5EF4-FFF2-40B4-BE49-F238E27FC236}">
                <a16:creationId xmlns:a16="http://schemas.microsoft.com/office/drawing/2014/main" id="{085D09BE-F9EA-5F89-812A-AD3FEBFB8E8B}"/>
              </a:ext>
            </a:extLst>
          </p:cNvPr>
          <p:cNvSpPr/>
          <p:nvPr/>
        </p:nvSpPr>
        <p:spPr>
          <a:xfrm>
            <a:off x="11496844" y="2020003"/>
            <a:ext cx="263047" cy="160308"/>
          </a:xfrm>
          <a:prstGeom prst="flowChartMerg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11480</TotalTime>
  <Words>845</Words>
  <Application>Microsoft Office PowerPoint</Application>
  <PresentationFormat>Widescreen</PresentationFormat>
  <Paragraphs>176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Eras Bold ITC</vt:lpstr>
      <vt:lpstr>Symbol</vt:lpstr>
      <vt:lpstr>Times New Roman</vt:lpstr>
      <vt:lpstr>Wingdings</vt:lpstr>
      <vt:lpstr>Office Theme</vt:lpstr>
      <vt:lpstr>BoonDocks LED Controller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Kathleen Loebbaka</dc:creator>
  <dc:description/>
  <cp:lastModifiedBy>Tom Swift</cp:lastModifiedBy>
  <cp:revision>7</cp:revision>
  <dcterms:created xsi:type="dcterms:W3CDTF">2025-05-07T16:53:21Z</dcterms:created>
  <dcterms:modified xsi:type="dcterms:W3CDTF">2025-11-23T04:48:02Z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6</vt:i4>
  </property>
</Properties>
</file>