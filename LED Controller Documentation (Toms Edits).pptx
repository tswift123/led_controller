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8.png" ContentType="image/png"/>
  <Override PartName="/ppt/media/image2.jpeg" ContentType="image/jpeg"/>
  <Override PartName="/ppt/media/image4.jpeg" ContentType="image/jpeg"/>
  <Override PartName="/ppt/media/image5.png" ContentType="image/png"/>
  <Override PartName="/ppt/media/image3.jpeg" ContentType="image/jpeg"/>
  <Override PartName="/ppt/media/image7.png" ContentType="image/png"/>
  <Override PartName="/ppt/media/image6.jpeg" ContentType="image/jpeg"/>
  <Override PartName="/ppt/media/image9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16B0E7-C398-40B0-8653-718E09CB9C95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1450AC-F9E6-474F-AADA-64EB8A8CF73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1797C8-AD7D-4257-86EA-E3D393EB993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870AD0-31BB-4740-B448-A98B9537F5AB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AC91DB-57B7-4633-A27D-6BE7FFE60948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EA9990-66E2-456B-BCA0-BFEC2D05AA5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5441B9-2970-41E9-A5DC-CB35F6E3FA1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F81E61-AD05-48A5-86EC-46B66EE60AB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AE9507-2217-426F-A93A-D1CF522BBE26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B659E9-94AC-480F-BB3B-C8BFBF97F33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DEDD33-8DEB-4A47-B647-92ADDC771850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2.jpeg"/><Relationship Id="rId7" Type="http://schemas.openxmlformats.org/officeDocument/2006/relationships/image" Target="../media/image2.jpeg"/><Relationship Id="rId8" Type="http://schemas.openxmlformats.org/officeDocument/2006/relationships/image" Target="../media/image3.jpeg"/><Relationship Id="rId9" Type="http://schemas.openxmlformats.org/officeDocument/2006/relationships/image" Target="../media/image2.jpeg"/><Relationship Id="rId10" Type="http://schemas.openxmlformats.org/officeDocument/2006/relationships/image" Target="../media/image3.jpeg"/><Relationship Id="rId11" Type="http://schemas.openxmlformats.org/officeDocument/2006/relationships/image" Target="../media/image2.jpeg"/><Relationship Id="rId12" Type="http://schemas.openxmlformats.org/officeDocument/2006/relationships/image" Target="../media/image3.jpeg"/><Relationship Id="rId13" Type="http://schemas.openxmlformats.org/officeDocument/2006/relationships/image" Target="../media/image2.jpeg"/><Relationship Id="rId14" Type="http://schemas.openxmlformats.org/officeDocument/2006/relationships/image" Target="../media/image3.jpeg"/><Relationship Id="rId15" Type="http://schemas.openxmlformats.org/officeDocument/2006/relationships/image" Target="../media/image3.jpeg"/><Relationship Id="rId16" Type="http://schemas.openxmlformats.org/officeDocument/2006/relationships/image" Target="../media/image2.jpeg"/><Relationship Id="rId17" Type="http://schemas.openxmlformats.org/officeDocument/2006/relationships/image" Target="../media/image1.png"/><Relationship Id="rId18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2.jpeg"/><Relationship Id="rId7" Type="http://schemas.openxmlformats.org/officeDocument/2006/relationships/image" Target="../media/image2.jpeg"/><Relationship Id="rId8" Type="http://schemas.openxmlformats.org/officeDocument/2006/relationships/image" Target="../media/image3.jpeg"/><Relationship Id="rId9" Type="http://schemas.openxmlformats.org/officeDocument/2006/relationships/image" Target="../media/image2.jpeg"/><Relationship Id="rId10" Type="http://schemas.openxmlformats.org/officeDocument/2006/relationships/image" Target="../media/image3.jpeg"/><Relationship Id="rId11" Type="http://schemas.openxmlformats.org/officeDocument/2006/relationships/image" Target="../media/image2.jpeg"/><Relationship Id="rId12" Type="http://schemas.openxmlformats.org/officeDocument/2006/relationships/image" Target="../media/image3.jpeg"/><Relationship Id="rId13" Type="http://schemas.openxmlformats.org/officeDocument/2006/relationships/image" Target="../media/image2.jpeg"/><Relationship Id="rId14" Type="http://schemas.openxmlformats.org/officeDocument/2006/relationships/image" Target="../media/image3.jpeg"/><Relationship Id="rId15" Type="http://schemas.openxmlformats.org/officeDocument/2006/relationships/image" Target="../media/image1.png"/><Relationship Id="rId16" Type="http://schemas.openxmlformats.org/officeDocument/2006/relationships/image" Target="../media/image2.jpeg"/><Relationship Id="rId17" Type="http://schemas.openxmlformats.org/officeDocument/2006/relationships/image" Target="../media/image3.jpeg"/><Relationship Id="rId18" Type="http://schemas.openxmlformats.org/officeDocument/2006/relationships/image" Target="../media/image2.jpeg"/><Relationship Id="rId19" Type="http://schemas.openxmlformats.org/officeDocument/2006/relationships/image" Target="../media/image4.jpeg"/><Relationship Id="rId20" Type="http://schemas.openxmlformats.org/officeDocument/2006/relationships/image" Target="../media/image5.png"/><Relationship Id="rId2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6.jpeg"/><Relationship Id="rId3" Type="http://schemas.openxmlformats.org/officeDocument/2006/relationships/image" Target="../media/image4.jpeg"/><Relationship Id="rId4" Type="http://schemas.openxmlformats.org/officeDocument/2006/relationships/image" Target="../media/image4.jpeg"/><Relationship Id="rId5" Type="http://schemas.openxmlformats.org/officeDocument/2006/relationships/image" Target="../media/image4.jpeg"/><Relationship Id="rId6" Type="http://schemas.openxmlformats.org/officeDocument/2006/relationships/image" Target="../media/image4.jpeg"/><Relationship Id="rId7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6.jpeg"/><Relationship Id="rId4" Type="http://schemas.openxmlformats.org/officeDocument/2006/relationships/image" Target="../media/image6.jpeg"/><Relationship Id="rId5" Type="http://schemas.openxmlformats.org/officeDocument/2006/relationships/image" Target="../media/image6.jpe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BoonDocks LED Controller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Operating description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Screen Layouts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2"/>
          <p:cNvSpPr/>
          <p:nvPr/>
        </p:nvSpPr>
        <p:spPr>
          <a:xfrm>
            <a:off x="619200" y="142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Rectangle: Rounded Corners 3"/>
          <p:cNvSpPr/>
          <p:nvPr/>
        </p:nvSpPr>
        <p:spPr>
          <a:xfrm>
            <a:off x="3353040" y="144576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6" name="Picture 2" descr="Color wheel - Wikipedia"/>
          <p:cNvPicPr/>
          <p:nvPr/>
        </p:nvPicPr>
        <p:blipFill>
          <a:blip r:embed="rId1"/>
          <a:stretch/>
        </p:blipFill>
        <p:spPr>
          <a:xfrm>
            <a:off x="846720" y="1844640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Box 8"/>
          <p:cNvSpPr/>
          <p:nvPr/>
        </p:nvSpPr>
        <p:spPr>
          <a:xfrm>
            <a:off x="695520" y="1533960"/>
            <a:ext cx="16783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CTL X 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4" descr="67 Dimmable Icon Royalty-Free Images, Stock Photos &amp; Pictures | Shutterstock"/>
          <p:cNvPicPr/>
          <p:nvPr/>
        </p:nvPicPr>
        <p:blipFill>
          <a:blip r:embed="rId2"/>
          <a:srcRect l="22024" t="20640" r="22024" b="27133"/>
          <a:stretch/>
        </p:blipFill>
        <p:spPr>
          <a:xfrm>
            <a:off x="9437760" y="1740240"/>
            <a:ext cx="504000" cy="50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3"/>
          <a:srcRect l="8954" t="16150" r="58414" b="16636"/>
          <a:stretch/>
        </p:blipFill>
        <p:spPr>
          <a:xfrm>
            <a:off x="7374960" y="1326960"/>
            <a:ext cx="623160" cy="66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Picture 4" descr="67 Dimmable Icon Royalty-Free Images, Stock Photos &amp; Pictures | Shutterstock"/>
          <p:cNvPicPr/>
          <p:nvPr/>
        </p:nvPicPr>
        <p:blipFill>
          <a:blip r:embed="rId4"/>
          <a:srcRect l="22024" t="20640" r="22024" b="27133"/>
          <a:stretch/>
        </p:blipFill>
        <p:spPr>
          <a:xfrm>
            <a:off x="1694880" y="384048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5"/>
          <a:srcRect l="8954" t="16150" r="58414" b="16636"/>
          <a:stretch/>
        </p:blipFill>
        <p:spPr>
          <a:xfrm>
            <a:off x="840600" y="375228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Picture 4" descr="67 Dimmable Icon Royalty-Free Images, Stock Photos &amp; Pictures | Shutterstock"/>
          <p:cNvPicPr/>
          <p:nvPr/>
        </p:nvPicPr>
        <p:blipFill>
          <a:blip r:embed="rId6"/>
          <a:srcRect l="22024" t="20640" r="22024" b="27133"/>
          <a:stretch/>
        </p:blipFill>
        <p:spPr>
          <a:xfrm>
            <a:off x="1694880" y="303696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4" descr="67 Dimmable Icon Royalty-Free Images, Stock Photos &amp; Pictures | Shutterstock"/>
          <p:cNvPicPr/>
          <p:nvPr/>
        </p:nvPicPr>
        <p:blipFill>
          <a:blip r:embed="rId7"/>
          <a:srcRect l="22024" t="20640" r="22024" b="27133"/>
          <a:stretch/>
        </p:blipFill>
        <p:spPr>
          <a:xfrm>
            <a:off x="4428720" y="172980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8"/>
          <a:srcRect l="8954" t="16150" r="58414" b="16636"/>
          <a:stretch/>
        </p:blipFill>
        <p:spPr>
          <a:xfrm>
            <a:off x="3574440" y="164160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Box 27"/>
          <p:cNvSpPr/>
          <p:nvPr/>
        </p:nvSpPr>
        <p:spPr>
          <a:xfrm>
            <a:off x="3692160" y="1423800"/>
            <a:ext cx="1089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4" descr="67 Dimmable Icon Royalty-Free Images, Stock Photos &amp; Pictures | Shutterstock"/>
          <p:cNvPicPr/>
          <p:nvPr/>
        </p:nvPicPr>
        <p:blipFill>
          <a:blip r:embed="rId9"/>
          <a:srcRect l="22024" t="20640" r="22024" b="27133"/>
          <a:stretch/>
        </p:blipFill>
        <p:spPr>
          <a:xfrm>
            <a:off x="4428720" y="246384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10"/>
          <a:srcRect l="8954" t="16150" r="58414" b="16636"/>
          <a:stretch/>
        </p:blipFill>
        <p:spPr>
          <a:xfrm>
            <a:off x="3574440" y="241020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026"/>
          <p:cNvSpPr/>
          <p:nvPr/>
        </p:nvSpPr>
        <p:spPr>
          <a:xfrm>
            <a:off x="3692160" y="2164680"/>
            <a:ext cx="1089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4" descr="67 Dimmable Icon Royalty-Free Images, Stock Photos &amp; Pictures | Shutterstock"/>
          <p:cNvPicPr/>
          <p:nvPr/>
        </p:nvPicPr>
        <p:blipFill>
          <a:blip r:embed="rId11"/>
          <a:srcRect l="22024" t="20640" r="22024" b="27133"/>
          <a:stretch/>
        </p:blipFill>
        <p:spPr>
          <a:xfrm>
            <a:off x="4460040" y="323820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12"/>
          <a:srcRect l="8954" t="16150" r="58414" b="16636"/>
          <a:stretch/>
        </p:blipFill>
        <p:spPr>
          <a:xfrm>
            <a:off x="3605400" y="315036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Box 1034"/>
          <p:cNvSpPr/>
          <p:nvPr/>
        </p:nvSpPr>
        <p:spPr>
          <a:xfrm>
            <a:off x="3723480" y="2911320"/>
            <a:ext cx="1089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Picture 4" descr="67 Dimmable Icon Royalty-Free Images, Stock Photos &amp; Pictures | Shutterstock"/>
          <p:cNvPicPr/>
          <p:nvPr/>
        </p:nvPicPr>
        <p:blipFill>
          <a:blip r:embed="rId13"/>
          <a:srcRect l="22024" t="20640" r="22024" b="27133"/>
          <a:stretch/>
        </p:blipFill>
        <p:spPr>
          <a:xfrm>
            <a:off x="4460040" y="3969000"/>
            <a:ext cx="451080" cy="45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6" descr="Light bulb icon. Energy and thinking symbol. Creative idea and inspiration concept. Isolated vector illustration on white background. lightbulb icon stock illustrations"/>
          <p:cNvPicPr/>
          <p:nvPr/>
        </p:nvPicPr>
        <p:blipFill>
          <a:blip r:embed="rId14"/>
          <a:srcRect l="8954" t="16150" r="58414" b="16636"/>
          <a:stretch/>
        </p:blipFill>
        <p:spPr>
          <a:xfrm>
            <a:off x="3605400" y="3880800"/>
            <a:ext cx="55800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Box 1037"/>
          <p:cNvSpPr/>
          <p:nvPr/>
        </p:nvSpPr>
        <p:spPr>
          <a:xfrm>
            <a:off x="3723480" y="3655800"/>
            <a:ext cx="1089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038"/>
          <p:cNvSpPr/>
          <p:nvPr/>
        </p:nvSpPr>
        <p:spPr>
          <a:xfrm>
            <a:off x="990720" y="3459600"/>
            <a:ext cx="1054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 Name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040"/>
          <p:cNvSpPr/>
          <p:nvPr/>
        </p:nvSpPr>
        <p:spPr>
          <a:xfrm>
            <a:off x="9906120" y="237600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100%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41"/>
          <p:cNvSpPr/>
          <p:nvPr/>
        </p:nvSpPr>
        <p:spPr>
          <a:xfrm>
            <a:off x="9906120" y="304668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50%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042"/>
          <p:cNvSpPr/>
          <p:nvPr/>
        </p:nvSpPr>
        <p:spPr>
          <a:xfrm>
            <a:off x="9906120" y="371592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25%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043"/>
          <p:cNvSpPr/>
          <p:nvPr/>
        </p:nvSpPr>
        <p:spPr>
          <a:xfrm>
            <a:off x="9906120" y="4384440"/>
            <a:ext cx="745200" cy="369000"/>
          </a:xfrm>
          <a:prstGeom prst="rect">
            <a:avLst/>
          </a:prstGeom>
          <a:noFill/>
          <a:ln w="2540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0%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044"/>
          <p:cNvSpPr/>
          <p:nvPr/>
        </p:nvSpPr>
        <p:spPr>
          <a:xfrm>
            <a:off x="9116280" y="1006200"/>
            <a:ext cx="27417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Dimmer Touch Cycle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Default “on” 100%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rrow: Down 1045"/>
          <p:cNvSpPr/>
          <p:nvPr/>
        </p:nvSpPr>
        <p:spPr>
          <a:xfrm>
            <a:off x="10162440" y="276372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Arrow: Down 5"/>
          <p:cNvSpPr/>
          <p:nvPr/>
        </p:nvSpPr>
        <p:spPr>
          <a:xfrm>
            <a:off x="10169280" y="34218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Arrow: Down 6"/>
          <p:cNvSpPr/>
          <p:nvPr/>
        </p:nvSpPr>
        <p:spPr>
          <a:xfrm>
            <a:off x="10182960" y="410040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Arrow: Down 9"/>
          <p:cNvSpPr/>
          <p:nvPr/>
        </p:nvSpPr>
        <p:spPr>
          <a:xfrm rot="5400000">
            <a:off x="10703160" y="2397960"/>
            <a:ext cx="235080" cy="273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5" name="Rectangle 10"/>
          <p:cNvSpPr/>
          <p:nvPr/>
        </p:nvSpPr>
        <p:spPr>
          <a:xfrm>
            <a:off x="10957680" y="2470320"/>
            <a:ext cx="125640" cy="21715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6" name="Rectangle 11"/>
          <p:cNvSpPr/>
          <p:nvPr/>
        </p:nvSpPr>
        <p:spPr>
          <a:xfrm rot="5400000">
            <a:off x="10798920" y="4377600"/>
            <a:ext cx="106920" cy="399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6075720" y="1017000"/>
            <a:ext cx="2720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Bulb “ON” /  “OFF” State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22"/>
          <p:cNvGrpSpPr/>
          <p:nvPr/>
        </p:nvGrpSpPr>
        <p:grpSpPr>
          <a:xfrm>
            <a:off x="6623280" y="1324440"/>
            <a:ext cx="623160" cy="662760"/>
            <a:chOff x="6623280" y="1324440"/>
            <a:chExt cx="623160" cy="662760"/>
          </a:xfrm>
        </p:grpSpPr>
        <p:pic>
          <p:nvPicPr>
            <p:cNvPr id="99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15"/>
            <a:srcRect l="8954" t="16150" r="58414" b="16636"/>
            <a:stretch/>
          </p:blipFill>
          <p:spPr>
            <a:xfrm>
              <a:off x="6623280" y="1324440"/>
              <a:ext cx="623160" cy="662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0" name="Oval 21"/>
            <p:cNvSpPr/>
            <p:nvPr/>
          </p:nvSpPr>
          <p:spPr>
            <a:xfrm>
              <a:off x="6835320" y="1532880"/>
              <a:ext cx="179640" cy="189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pic>
        <p:nvPicPr>
          <p:cNvPr id="101" name="Picture 4" descr="67 Dimmable Icon Royalty-Free Images, Stock Photos &amp; Pictures | Shutterstock"/>
          <p:cNvPicPr/>
          <p:nvPr/>
        </p:nvPicPr>
        <p:blipFill>
          <a:blip r:embed="rId16"/>
          <a:srcRect l="22024" t="20640" r="22024" b="27133"/>
          <a:stretch/>
        </p:blipFill>
        <p:spPr>
          <a:xfrm>
            <a:off x="10553760" y="1724400"/>
            <a:ext cx="504000" cy="50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Oval 24"/>
          <p:cNvSpPr/>
          <p:nvPr/>
        </p:nvSpPr>
        <p:spPr>
          <a:xfrm>
            <a:off x="10586160" y="1783800"/>
            <a:ext cx="415440" cy="387720"/>
          </a:xfrm>
          <a:prstGeom prst="ellipse">
            <a:avLst/>
          </a:prstGeom>
          <a:solidFill>
            <a:srgbClr val="92d05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3" name="TextBox 25"/>
          <p:cNvSpPr/>
          <p:nvPr/>
        </p:nvSpPr>
        <p:spPr>
          <a:xfrm>
            <a:off x="6001920" y="202968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9000360" y="4892400"/>
            <a:ext cx="2794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Haptic response  on touch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8"/>
          <p:cNvSpPr/>
          <p:nvPr/>
        </p:nvSpPr>
        <p:spPr>
          <a:xfrm>
            <a:off x="1143000" y="136440"/>
            <a:ext cx="3795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Operating Screens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9"/>
          <p:cNvSpPr/>
          <p:nvPr/>
        </p:nvSpPr>
        <p:spPr>
          <a:xfrm>
            <a:off x="546120" y="4755240"/>
            <a:ext cx="19040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Screen used for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RGBW or RBG + 1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0"/>
          <p:cNvSpPr/>
          <p:nvPr/>
        </p:nvSpPr>
        <p:spPr>
          <a:xfrm>
            <a:off x="3417840" y="4755240"/>
            <a:ext cx="17812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Screen used for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 independent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channels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25"/>
          <p:cNvSpPr/>
          <p:nvPr/>
        </p:nvSpPr>
        <p:spPr>
          <a:xfrm>
            <a:off x="944280" y="653760"/>
            <a:ext cx="4082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Each controller will have its own screen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27"/>
          <p:cNvSpPr/>
          <p:nvPr/>
        </p:nvSpPr>
        <p:spPr>
          <a:xfrm>
            <a:off x="6766200" y="178560"/>
            <a:ext cx="30614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Icon Operation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2" descr="Color wheel - Wikipedia"/>
          <p:cNvPicPr/>
          <p:nvPr/>
        </p:nvPicPr>
        <p:blipFill>
          <a:blip r:embed="rId17"/>
          <a:stretch/>
        </p:blipFill>
        <p:spPr>
          <a:xfrm>
            <a:off x="6683040" y="4425480"/>
            <a:ext cx="1299240" cy="12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1029"/>
          <p:cNvSpPr/>
          <p:nvPr/>
        </p:nvSpPr>
        <p:spPr>
          <a:xfrm>
            <a:off x="6039720" y="3259440"/>
            <a:ext cx="250524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Color wheel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Bluetooth to pico RGB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values as finger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Moves through wheel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030"/>
          <p:cNvSpPr/>
          <p:nvPr/>
        </p:nvSpPr>
        <p:spPr>
          <a:xfrm>
            <a:off x="5918040" y="5655960"/>
            <a:ext cx="28292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Haptic response  on releas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8"/>
          <p:cNvGrpSpPr/>
          <p:nvPr/>
        </p:nvGrpSpPr>
        <p:grpSpPr>
          <a:xfrm>
            <a:off x="4314600" y="1880280"/>
            <a:ext cx="1754640" cy="3031920"/>
            <a:chOff x="4314600" y="1880280"/>
            <a:chExt cx="1754640" cy="3031920"/>
          </a:xfrm>
        </p:grpSpPr>
        <p:sp>
          <p:nvSpPr>
            <p:cNvPr id="114" name="Rectangle: Rounded Corners 1"/>
            <p:cNvSpPr/>
            <p:nvPr/>
          </p:nvSpPr>
          <p:spPr>
            <a:xfrm>
              <a:off x="4314600" y="188028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15" name="Picture 2" descr="Color wheel - Wikipedia"/>
            <p:cNvPicPr/>
            <p:nvPr/>
          </p:nvPicPr>
          <p:blipFill>
            <a:blip r:embed="rId1"/>
            <a:stretch/>
          </p:blipFill>
          <p:spPr>
            <a:xfrm>
              <a:off x="4542120" y="229500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6" name="TextBox 3"/>
            <p:cNvSpPr/>
            <p:nvPr/>
          </p:nvSpPr>
          <p:spPr>
            <a:xfrm>
              <a:off x="4390920" y="1984320"/>
              <a:ext cx="147744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RGBW Name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7" name="Picture 4" descr="67 Dimmable Icon Royalty-Free Images, Stock Photos &amp; Pictures | Shutterstock"/>
            <p:cNvPicPr/>
            <p:nvPr/>
          </p:nvPicPr>
          <p:blipFill>
            <a:blip r:embed="rId2"/>
            <a:srcRect l="22024" t="20640" r="22024" b="27133"/>
            <a:stretch/>
          </p:blipFill>
          <p:spPr>
            <a:xfrm>
              <a:off x="5390280" y="348732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8" name="TextBox 7"/>
            <p:cNvSpPr/>
            <p:nvPr/>
          </p:nvSpPr>
          <p:spPr>
            <a:xfrm>
              <a:off x="4686120" y="3931920"/>
              <a:ext cx="98928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endParaRPr b="0" lang="en-US" sz="1400" strike="noStrike" u="none">
                <a:solidFill>
                  <a:schemeClr val="dk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119" name="Group 9"/>
          <p:cNvGrpSpPr/>
          <p:nvPr/>
        </p:nvGrpSpPr>
        <p:grpSpPr>
          <a:xfrm>
            <a:off x="6248160" y="1902240"/>
            <a:ext cx="1754640" cy="3031920"/>
            <a:chOff x="6248160" y="1902240"/>
            <a:chExt cx="1754640" cy="3031920"/>
          </a:xfrm>
        </p:grpSpPr>
        <p:sp>
          <p:nvSpPr>
            <p:cNvPr id="120" name="Rectangle: Rounded Corners 10"/>
            <p:cNvSpPr/>
            <p:nvPr/>
          </p:nvSpPr>
          <p:spPr>
            <a:xfrm>
              <a:off x="624816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21" name="Picture 11" descr="Color wheel - Wikipedia"/>
            <p:cNvPicPr/>
            <p:nvPr/>
          </p:nvPicPr>
          <p:blipFill>
            <a:blip r:embed="rId3"/>
            <a:stretch/>
          </p:blipFill>
          <p:spPr>
            <a:xfrm>
              <a:off x="6475680" y="231696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2" name="TextBox 12"/>
            <p:cNvSpPr/>
            <p:nvPr/>
          </p:nvSpPr>
          <p:spPr>
            <a:xfrm>
              <a:off x="6324480" y="2006280"/>
              <a:ext cx="127620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RGB Name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3" name="Picture 13" descr="67 Dimmable Icon Royalty-Free Images, Stock Photos &amp; Pictures | Shutterstock"/>
            <p:cNvPicPr/>
            <p:nvPr/>
          </p:nvPicPr>
          <p:blipFill>
            <a:blip r:embed="rId4"/>
            <a:srcRect l="22024" t="20640" r="22024" b="27133"/>
            <a:stretch/>
          </p:blipFill>
          <p:spPr>
            <a:xfrm>
              <a:off x="7323840" y="431280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5"/>
            <a:srcRect l="8954" t="16150" r="58414" b="16636"/>
            <a:stretch/>
          </p:blipFill>
          <p:spPr>
            <a:xfrm>
              <a:off x="6469560" y="422496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5" name="Picture 4" descr="67 Dimmable Icon Royalty-Free Images, Stock Photos &amp; Pictures | Shutterstock"/>
            <p:cNvPicPr/>
            <p:nvPr/>
          </p:nvPicPr>
          <p:blipFill>
            <a:blip r:embed="rId6"/>
            <a:srcRect l="22024" t="20640" r="22024" b="27133"/>
            <a:stretch/>
          </p:blipFill>
          <p:spPr>
            <a:xfrm>
              <a:off x="7323840" y="3509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6" name="TextBox 16"/>
            <p:cNvSpPr/>
            <p:nvPr/>
          </p:nvSpPr>
          <p:spPr>
            <a:xfrm>
              <a:off x="6619680" y="393192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7" name="Group 30"/>
          <p:cNvGrpSpPr/>
          <p:nvPr/>
        </p:nvGrpSpPr>
        <p:grpSpPr>
          <a:xfrm>
            <a:off x="8215920" y="1880280"/>
            <a:ext cx="1754640" cy="3053880"/>
            <a:chOff x="8215920" y="1880280"/>
            <a:chExt cx="1754640" cy="3053880"/>
          </a:xfrm>
        </p:grpSpPr>
        <p:sp>
          <p:nvSpPr>
            <p:cNvPr id="128" name="Rectangle: Rounded Corners 17"/>
            <p:cNvSpPr/>
            <p:nvPr/>
          </p:nvSpPr>
          <p:spPr>
            <a:xfrm>
              <a:off x="821592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29" name="Picture 4" descr="67 Dimmable Icon Royalty-Free Images, Stock Photos &amp; Pictures | Shutterstock"/>
            <p:cNvPicPr/>
            <p:nvPr/>
          </p:nvPicPr>
          <p:blipFill>
            <a:blip r:embed="rId7"/>
            <a:srcRect l="22024" t="20640" r="22024" b="27133"/>
            <a:stretch/>
          </p:blipFill>
          <p:spPr>
            <a:xfrm>
              <a:off x="9291600" y="2186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0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8"/>
            <a:srcRect l="8954" t="16150" r="58414" b="16636"/>
            <a:stretch/>
          </p:blipFill>
          <p:spPr>
            <a:xfrm>
              <a:off x="8437320" y="20980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1" name="TextBox 20"/>
            <p:cNvSpPr/>
            <p:nvPr/>
          </p:nvSpPr>
          <p:spPr>
            <a:xfrm>
              <a:off x="8555040" y="188028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Chan1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2" name="Picture 4" descr="67 Dimmable Icon Royalty-Free Images, Stock Photos &amp; Pictures | Shutterstock"/>
            <p:cNvPicPr/>
            <p:nvPr/>
          </p:nvPicPr>
          <p:blipFill>
            <a:blip r:embed="rId9"/>
            <a:srcRect l="22024" t="20640" r="22024" b="27133"/>
            <a:stretch/>
          </p:blipFill>
          <p:spPr>
            <a:xfrm>
              <a:off x="9291600" y="292032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10"/>
            <a:srcRect l="8954" t="16150" r="58414" b="16636"/>
            <a:stretch/>
          </p:blipFill>
          <p:spPr>
            <a:xfrm>
              <a:off x="8437320" y="28666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4" name="TextBox 23"/>
            <p:cNvSpPr/>
            <p:nvPr/>
          </p:nvSpPr>
          <p:spPr>
            <a:xfrm>
              <a:off x="8555040" y="262116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Chan2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5" name="Picture 4" descr="67 Dimmable Icon Royalty-Free Images, Stock Photos &amp; Pictures | Shutterstock"/>
            <p:cNvPicPr/>
            <p:nvPr/>
          </p:nvPicPr>
          <p:blipFill>
            <a:blip r:embed="rId11"/>
            <a:srcRect l="22024" t="20640" r="22024" b="27133"/>
            <a:stretch/>
          </p:blipFill>
          <p:spPr>
            <a:xfrm>
              <a:off x="9322920" y="36946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12"/>
            <a:srcRect l="8954" t="16150" r="58414" b="16636"/>
            <a:stretch/>
          </p:blipFill>
          <p:spPr>
            <a:xfrm>
              <a:off x="8468640" y="360684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7" name="TextBox 26"/>
            <p:cNvSpPr/>
            <p:nvPr/>
          </p:nvSpPr>
          <p:spPr>
            <a:xfrm>
              <a:off x="8586360" y="336780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Chan3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8" name="Picture 4" descr="67 Dimmable Icon Royalty-Free Images, Stock Photos &amp; Pictures | Shutterstock"/>
            <p:cNvPicPr/>
            <p:nvPr/>
          </p:nvPicPr>
          <p:blipFill>
            <a:blip r:embed="rId13"/>
            <a:srcRect l="22024" t="20640" r="22024" b="27133"/>
            <a:stretch/>
          </p:blipFill>
          <p:spPr>
            <a:xfrm>
              <a:off x="9322920" y="44254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9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14"/>
            <a:srcRect l="8954" t="16150" r="58414" b="16636"/>
            <a:stretch/>
          </p:blipFill>
          <p:spPr>
            <a:xfrm>
              <a:off x="8468640" y="433728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0" name="TextBox 29"/>
            <p:cNvSpPr/>
            <p:nvPr/>
          </p:nvSpPr>
          <p:spPr>
            <a:xfrm>
              <a:off x="8586360" y="411228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1" name="Group 31"/>
          <p:cNvGrpSpPr/>
          <p:nvPr/>
        </p:nvGrpSpPr>
        <p:grpSpPr>
          <a:xfrm>
            <a:off x="10161360" y="1902240"/>
            <a:ext cx="1754640" cy="3031920"/>
            <a:chOff x="10161360" y="1902240"/>
            <a:chExt cx="1754640" cy="3031920"/>
          </a:xfrm>
        </p:grpSpPr>
        <p:sp>
          <p:nvSpPr>
            <p:cNvPr id="142" name="Rectangle: Rounded Corners 32"/>
            <p:cNvSpPr/>
            <p:nvPr/>
          </p:nvSpPr>
          <p:spPr>
            <a:xfrm>
              <a:off x="10161360" y="1902240"/>
              <a:ext cx="1754640" cy="3031920"/>
            </a:xfrm>
            <a:prstGeom prst="roundRect">
              <a:avLst>
                <a:gd name="adj" fmla="val 16667"/>
              </a:avLst>
            </a:prstGeom>
            <a:noFill/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43" name="Picture 33" descr="Color wheel - Wikipedia"/>
            <p:cNvPicPr/>
            <p:nvPr/>
          </p:nvPicPr>
          <p:blipFill>
            <a:blip r:embed="rId15"/>
            <a:stretch/>
          </p:blipFill>
          <p:spPr>
            <a:xfrm>
              <a:off x="10388880" y="2316960"/>
              <a:ext cx="1299240" cy="1299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4" name="TextBox 34"/>
            <p:cNvSpPr/>
            <p:nvPr/>
          </p:nvSpPr>
          <p:spPr>
            <a:xfrm>
              <a:off x="10237680" y="2006280"/>
              <a:ext cx="127620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RGB Name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45" name="Picture 35" descr="67 Dimmable Icon Royalty-Free Images, Stock Photos &amp; Pictures | Shutterstock"/>
            <p:cNvPicPr/>
            <p:nvPr/>
          </p:nvPicPr>
          <p:blipFill>
            <a:blip r:embed="rId16"/>
            <a:srcRect l="22024" t="20640" r="22024" b="27133"/>
            <a:stretch/>
          </p:blipFill>
          <p:spPr>
            <a:xfrm>
              <a:off x="11237040" y="431280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" name="Picture 6" descr="Light bulb icon. Energy and thinking symbol. Creative idea and inspiration concept. Isolated vector illustration on white background. lightbulb icon stock illustrations"/>
            <p:cNvPicPr/>
            <p:nvPr/>
          </p:nvPicPr>
          <p:blipFill>
            <a:blip r:embed="rId17"/>
            <a:srcRect l="8954" t="16150" r="58414" b="16636"/>
            <a:stretch/>
          </p:blipFill>
          <p:spPr>
            <a:xfrm>
              <a:off x="10382760" y="4224960"/>
              <a:ext cx="558000" cy="593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7" name="Picture 4" descr="67 Dimmable Icon Royalty-Free Images, Stock Photos &amp; Pictures | Shutterstock"/>
            <p:cNvPicPr/>
            <p:nvPr/>
          </p:nvPicPr>
          <p:blipFill>
            <a:blip r:embed="rId18"/>
            <a:srcRect l="22024" t="20640" r="22024" b="27133"/>
            <a:stretch/>
          </p:blipFill>
          <p:spPr>
            <a:xfrm>
              <a:off x="11237040" y="3509280"/>
              <a:ext cx="451080" cy="453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8" name="TextBox 38"/>
            <p:cNvSpPr/>
            <p:nvPr/>
          </p:nvSpPr>
          <p:spPr>
            <a:xfrm>
              <a:off x="10532880" y="3931920"/>
              <a:ext cx="1208520" cy="3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400" strike="noStrike" u="none">
                  <a:solidFill>
                    <a:schemeClr val="dk1"/>
                  </a:solidFill>
                  <a:effectLst/>
                  <a:uFillTx/>
                  <a:latin typeface="Aptos"/>
                </a:rPr>
                <a:t>Chan4 Name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" name="TextBox 39"/>
          <p:cNvSpPr/>
          <p:nvPr/>
        </p:nvSpPr>
        <p:spPr>
          <a:xfrm>
            <a:off x="3079440" y="272160"/>
            <a:ext cx="65016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Application Operating Page Sequences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40"/>
          <p:cNvSpPr/>
          <p:nvPr/>
        </p:nvSpPr>
        <p:spPr>
          <a:xfrm>
            <a:off x="4315680" y="143532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Controller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41"/>
          <p:cNvSpPr/>
          <p:nvPr/>
        </p:nvSpPr>
        <p:spPr>
          <a:xfrm>
            <a:off x="6248160" y="143532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Controller 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2"/>
          <p:cNvSpPr/>
          <p:nvPr/>
        </p:nvSpPr>
        <p:spPr>
          <a:xfrm>
            <a:off x="8160480" y="1427040"/>
            <a:ext cx="1809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Controller 3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43"/>
          <p:cNvSpPr/>
          <p:nvPr/>
        </p:nvSpPr>
        <p:spPr>
          <a:xfrm>
            <a:off x="10079280" y="1429560"/>
            <a:ext cx="1809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Controller 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: Rounded Corners 48"/>
          <p:cNvSpPr/>
          <p:nvPr/>
        </p:nvSpPr>
        <p:spPr>
          <a:xfrm>
            <a:off x="2340000" y="188028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5" name="TextBox 49"/>
          <p:cNvSpPr/>
          <p:nvPr/>
        </p:nvSpPr>
        <p:spPr>
          <a:xfrm>
            <a:off x="2543400" y="21452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0"/>
          <p:cNvSpPr/>
          <p:nvPr/>
        </p:nvSpPr>
        <p:spPr>
          <a:xfrm>
            <a:off x="2543400" y="2692080"/>
            <a:ext cx="1348200" cy="369000"/>
          </a:xfrm>
          <a:prstGeom prst="rect">
            <a:avLst/>
          </a:prstGeom>
          <a:noFill/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1"/>
          <p:cNvSpPr/>
          <p:nvPr/>
        </p:nvSpPr>
        <p:spPr>
          <a:xfrm>
            <a:off x="2543400" y="32731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52"/>
          <p:cNvSpPr/>
          <p:nvPr/>
        </p:nvSpPr>
        <p:spPr>
          <a:xfrm>
            <a:off x="2543400" y="38073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4" descr="Thin line settings gear icon Royalty Free Vector Image"/>
          <p:cNvPicPr/>
          <p:nvPr/>
        </p:nvPicPr>
        <p:blipFill>
          <a:blip r:embed="rId19"/>
          <a:srcRect l="25344" t="23031" r="24908" b="30336"/>
          <a:stretch/>
        </p:blipFill>
        <p:spPr>
          <a:xfrm>
            <a:off x="2999520" y="43322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54"/>
          <p:cNvSpPr/>
          <p:nvPr/>
        </p:nvSpPr>
        <p:spPr>
          <a:xfrm>
            <a:off x="312840" y="5038200"/>
            <a:ext cx="175464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 Splash Screen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On App Open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Not in screen rotation in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5"/>
          <p:cNvSpPr/>
          <p:nvPr/>
        </p:nvSpPr>
        <p:spPr>
          <a:xfrm>
            <a:off x="2355840" y="5099760"/>
            <a:ext cx="95601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Swipe in app left or right to advance to next screen page rotating back from CTL 4 to Scene page on left swipe. Visa-versa, a right swipe will go from the Scene page to the CTL 4 page.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2" name="Group 59"/>
          <p:cNvGrpSpPr/>
          <p:nvPr/>
        </p:nvGrpSpPr>
        <p:grpSpPr>
          <a:xfrm>
            <a:off x="343440" y="1875600"/>
            <a:ext cx="1754640" cy="3031920"/>
            <a:chOff x="343440" y="1875600"/>
            <a:chExt cx="1754640" cy="3031920"/>
          </a:xfrm>
        </p:grpSpPr>
        <p:sp>
          <p:nvSpPr>
            <p:cNvPr id="163" name="Rectangle: Rounded Corners 56"/>
            <p:cNvSpPr/>
            <p:nvPr/>
          </p:nvSpPr>
          <p:spPr>
            <a:xfrm>
              <a:off x="343440" y="1875600"/>
              <a:ext cx="1754640" cy="3031920"/>
            </a:xfrm>
            <a:prstGeom prst="roundRect">
              <a:avLst>
                <a:gd name="adj" fmla="val 16667"/>
              </a:avLst>
            </a:prstGeom>
            <a:solidFill>
              <a:schemeClr val="tx1"/>
            </a:solidFill>
            <a:ln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pic>
          <p:nvPicPr>
            <p:cNvPr id="164" name="Picture 57" descr="A white outline of a beard and sunglasses&#10;&#10;AI-generated content may be incorrect."/>
            <p:cNvPicPr/>
            <p:nvPr/>
          </p:nvPicPr>
          <p:blipFill>
            <a:blip r:embed="rId20"/>
            <a:stretch/>
          </p:blipFill>
          <p:spPr>
            <a:xfrm>
              <a:off x="348480" y="2076120"/>
              <a:ext cx="1742760" cy="22118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5" name="TextBox 58"/>
            <p:cNvSpPr/>
            <p:nvPr/>
          </p:nvSpPr>
          <p:spPr>
            <a:xfrm>
              <a:off x="388800" y="4239720"/>
              <a:ext cx="1702440" cy="6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92d050"/>
                  </a:solidFill>
                  <a:effectLst/>
                  <a:uFillTx/>
                  <a:latin typeface="Eras Bold ITC"/>
                </a:rPr>
                <a:t>BoonDocks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92d050"/>
                  </a:solidFill>
                  <a:effectLst/>
                  <a:uFillTx/>
                  <a:latin typeface="Eras Bold ITC"/>
                </a:rPr>
                <a:t>LED Controls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6" name="TextBox 60"/>
          <p:cNvSpPr/>
          <p:nvPr/>
        </p:nvSpPr>
        <p:spPr>
          <a:xfrm>
            <a:off x="2340000" y="1429560"/>
            <a:ext cx="1754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 MGMT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"/>
          <p:cNvSpPr/>
          <p:nvPr/>
        </p:nvSpPr>
        <p:spPr>
          <a:xfrm>
            <a:off x="566640" y="17773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TextBox 2"/>
          <p:cNvSpPr/>
          <p:nvPr/>
        </p:nvSpPr>
        <p:spPr>
          <a:xfrm>
            <a:off x="3377520" y="171000"/>
            <a:ext cx="590328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 Selection and Screen Saving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769680" y="20426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769680" y="2589480"/>
            <a:ext cx="1348200" cy="369000"/>
          </a:xfrm>
          <a:prstGeom prst="rect">
            <a:avLst/>
          </a:prstGeom>
          <a:noFill/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5"/>
          <p:cNvSpPr/>
          <p:nvPr/>
        </p:nvSpPr>
        <p:spPr>
          <a:xfrm>
            <a:off x="769680" y="31701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769680" y="3704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4" descr="Thin line settings gear icon Royalty Free Vector Image"/>
          <p:cNvPicPr/>
          <p:nvPr/>
        </p:nvPicPr>
        <p:blipFill>
          <a:blip r:embed="rId1"/>
          <a:srcRect l="25344" t="23031" r="24908" b="30336"/>
          <a:stretch/>
        </p:blipFill>
        <p:spPr>
          <a:xfrm>
            <a:off x="1225800" y="42296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Picture 6" descr="Keyboard of smartphone icon. Mobile phone keypad sign. Screen smartphone keyboard  symbol. flat style 37740706 Vector Art at Vecteezy"/>
          <p:cNvPicPr/>
          <p:nvPr/>
        </p:nvPicPr>
        <p:blipFill>
          <a:blip r:embed="rId2"/>
          <a:stretch/>
        </p:blipFill>
        <p:spPr>
          <a:xfrm>
            <a:off x="8136000" y="375120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Rectangle: Rounded Corners 16"/>
          <p:cNvSpPr/>
          <p:nvPr/>
        </p:nvSpPr>
        <p:spPr>
          <a:xfrm>
            <a:off x="8141040" y="177948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6" name="TextBox 17"/>
          <p:cNvSpPr/>
          <p:nvPr/>
        </p:nvSpPr>
        <p:spPr>
          <a:xfrm>
            <a:off x="8368200" y="2044440"/>
            <a:ext cx="1348200" cy="369000"/>
          </a:xfrm>
          <a:prstGeom prst="rect">
            <a:avLst/>
          </a:prstGeom>
          <a:noFill/>
          <a:ln w="190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 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8"/>
          <p:cNvSpPr/>
          <p:nvPr/>
        </p:nvSpPr>
        <p:spPr>
          <a:xfrm>
            <a:off x="8368200" y="26215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 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9"/>
          <p:cNvSpPr/>
          <p:nvPr/>
        </p:nvSpPr>
        <p:spPr>
          <a:xfrm>
            <a:off x="10536120" y="617400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: Rounded Corners 20"/>
          <p:cNvSpPr/>
          <p:nvPr/>
        </p:nvSpPr>
        <p:spPr>
          <a:xfrm>
            <a:off x="2998080" y="17773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0" name="TextBox 21"/>
          <p:cNvSpPr/>
          <p:nvPr/>
        </p:nvSpPr>
        <p:spPr>
          <a:xfrm>
            <a:off x="3201120" y="20426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22"/>
          <p:cNvSpPr/>
          <p:nvPr/>
        </p:nvSpPr>
        <p:spPr>
          <a:xfrm>
            <a:off x="3201120" y="2589480"/>
            <a:ext cx="1348200" cy="36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23"/>
          <p:cNvSpPr/>
          <p:nvPr/>
        </p:nvSpPr>
        <p:spPr>
          <a:xfrm>
            <a:off x="3201120" y="31701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24"/>
          <p:cNvSpPr/>
          <p:nvPr/>
        </p:nvSpPr>
        <p:spPr>
          <a:xfrm>
            <a:off x="3201120" y="3704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4" descr="Thin line settings gear icon Royalty Free Vector Image"/>
          <p:cNvPicPr/>
          <p:nvPr/>
        </p:nvPicPr>
        <p:blipFill>
          <a:blip r:embed="rId3"/>
          <a:srcRect l="25344" t="23031" r="24908" b="30336"/>
          <a:stretch/>
        </p:blipFill>
        <p:spPr>
          <a:xfrm>
            <a:off x="3657240" y="42296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Rectangle: Rounded Corners 26"/>
          <p:cNvSpPr/>
          <p:nvPr/>
        </p:nvSpPr>
        <p:spPr>
          <a:xfrm>
            <a:off x="6109920" y="177948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86" name="TextBox 27"/>
          <p:cNvSpPr/>
          <p:nvPr/>
        </p:nvSpPr>
        <p:spPr>
          <a:xfrm>
            <a:off x="6312960" y="20444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8"/>
          <p:cNvSpPr/>
          <p:nvPr/>
        </p:nvSpPr>
        <p:spPr>
          <a:xfrm>
            <a:off x="6312960" y="2591280"/>
            <a:ext cx="1348200" cy="369000"/>
          </a:xfrm>
          <a:prstGeom prst="rect">
            <a:avLst/>
          </a:prstGeom>
          <a:noFill/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29"/>
          <p:cNvSpPr/>
          <p:nvPr/>
        </p:nvSpPr>
        <p:spPr>
          <a:xfrm>
            <a:off x="6312960" y="31723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30"/>
          <p:cNvSpPr/>
          <p:nvPr/>
        </p:nvSpPr>
        <p:spPr>
          <a:xfrm>
            <a:off x="6312960" y="37065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Picture 4" descr="Thin line settings gear icon Royalty Free Vector Image"/>
          <p:cNvPicPr/>
          <p:nvPr/>
        </p:nvPicPr>
        <p:blipFill>
          <a:blip r:embed="rId4"/>
          <a:srcRect l="25344" t="23031" r="24908" b="30336"/>
          <a:stretch/>
        </p:blipFill>
        <p:spPr>
          <a:xfrm>
            <a:off x="6769080" y="423144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Box 1024"/>
          <p:cNvSpPr/>
          <p:nvPr/>
        </p:nvSpPr>
        <p:spPr>
          <a:xfrm>
            <a:off x="566640" y="793080"/>
            <a:ext cx="41860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Momentary touch &lt; 5 seconds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The scene box turns green to indicate it is selected and will remain selected.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1025"/>
          <p:cNvSpPr/>
          <p:nvPr/>
        </p:nvSpPr>
        <p:spPr>
          <a:xfrm>
            <a:off x="6109920" y="793080"/>
            <a:ext cx="578808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Longer touch &gt; 5 seconds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The scene naming and save screen is presented.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1028"/>
          <p:cNvSpPr/>
          <p:nvPr/>
        </p:nvSpPr>
        <p:spPr>
          <a:xfrm>
            <a:off x="566640" y="4929480"/>
            <a:ext cx="418608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Haptic response  as scene is touched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Highlight text box green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– ringer “ON”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Vibrate – ringer “OFF”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1030"/>
          <p:cNvSpPr/>
          <p:nvPr/>
        </p:nvSpPr>
        <p:spPr>
          <a:xfrm>
            <a:off x="10507320" y="50749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031"/>
          <p:cNvSpPr/>
          <p:nvPr/>
        </p:nvSpPr>
        <p:spPr>
          <a:xfrm>
            <a:off x="10536120" y="5612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 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032"/>
          <p:cNvSpPr/>
          <p:nvPr/>
        </p:nvSpPr>
        <p:spPr>
          <a:xfrm>
            <a:off x="8368200" y="31658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1033"/>
          <p:cNvSpPr/>
          <p:nvPr/>
        </p:nvSpPr>
        <p:spPr>
          <a:xfrm>
            <a:off x="7022880" y="5070960"/>
            <a:ext cx="3437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This is a static field for S 1/2/3/4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034"/>
          <p:cNvSpPr/>
          <p:nvPr/>
        </p:nvSpPr>
        <p:spPr>
          <a:xfrm>
            <a:off x="7182000" y="5612760"/>
            <a:ext cx="3304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 name input from keyboard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035"/>
          <p:cNvSpPr/>
          <p:nvPr/>
        </p:nvSpPr>
        <p:spPr>
          <a:xfrm>
            <a:off x="5104440" y="6161760"/>
            <a:ext cx="5381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to pico &amp; return to Scene page green highlighted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: Rounded Corners 1036"/>
          <p:cNvSpPr/>
          <p:nvPr/>
        </p:nvSpPr>
        <p:spPr>
          <a:xfrm>
            <a:off x="10143360" y="176004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01" name="TextBox 1037"/>
          <p:cNvSpPr/>
          <p:nvPr/>
        </p:nvSpPr>
        <p:spPr>
          <a:xfrm>
            <a:off x="10346400" y="20253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038"/>
          <p:cNvSpPr/>
          <p:nvPr/>
        </p:nvSpPr>
        <p:spPr>
          <a:xfrm>
            <a:off x="10346400" y="2571840"/>
            <a:ext cx="1348200" cy="36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039"/>
          <p:cNvSpPr/>
          <p:nvPr/>
        </p:nvSpPr>
        <p:spPr>
          <a:xfrm>
            <a:off x="10346400" y="315288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040"/>
          <p:cNvSpPr/>
          <p:nvPr/>
        </p:nvSpPr>
        <p:spPr>
          <a:xfrm>
            <a:off x="10346400" y="36871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Scene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Picture 4" descr="Thin line settings gear icon Royalty Free Vector Image"/>
          <p:cNvPicPr/>
          <p:nvPr/>
        </p:nvPicPr>
        <p:blipFill>
          <a:blip r:embed="rId5"/>
          <a:srcRect l="25344" t="23031" r="24908" b="30336"/>
          <a:stretch/>
        </p:blipFill>
        <p:spPr>
          <a:xfrm>
            <a:off x="10802520" y="421200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Picture 4" descr="Thin line settings gear icon Royalty Free Vector Image"/>
          <p:cNvPicPr/>
          <p:nvPr/>
        </p:nvPicPr>
        <p:blipFill>
          <a:blip r:embed="rId6"/>
          <a:srcRect l="25344" t="23031" r="24908" b="30336"/>
          <a:stretch/>
        </p:blipFill>
        <p:spPr>
          <a:xfrm>
            <a:off x="685440" y="6199200"/>
            <a:ext cx="435960" cy="4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Box 1043"/>
          <p:cNvSpPr/>
          <p:nvPr/>
        </p:nvSpPr>
        <p:spPr>
          <a:xfrm>
            <a:off x="1121760" y="6154920"/>
            <a:ext cx="32065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Touching this icon takes you to setup page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: Rounded Corners 2"/>
          <p:cNvSpPr/>
          <p:nvPr/>
        </p:nvSpPr>
        <p:spPr>
          <a:xfrm>
            <a:off x="810720" y="2256480"/>
            <a:ext cx="1754640" cy="303192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09" name="Picture 1" descr="A white outline of a beard and sunglasses&#10;&#10;AI-generated content may be incorrect."/>
          <p:cNvPicPr/>
          <p:nvPr/>
        </p:nvPicPr>
        <p:blipFill>
          <a:blip r:embed="rId1"/>
          <a:stretch/>
        </p:blipFill>
        <p:spPr>
          <a:xfrm>
            <a:off x="815400" y="2456640"/>
            <a:ext cx="1742760" cy="221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"/>
          <p:cNvSpPr/>
          <p:nvPr/>
        </p:nvSpPr>
        <p:spPr>
          <a:xfrm>
            <a:off x="856080" y="4620600"/>
            <a:ext cx="17024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Eras Bold ITC"/>
              </a:rPr>
              <a:t>BoonDocks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lt1"/>
                </a:solidFill>
                <a:effectLst/>
                <a:uFillTx/>
                <a:latin typeface="Eras Bold ITC"/>
              </a:rPr>
              <a:t>LED Controls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4"/>
          <p:cNvSpPr/>
          <p:nvPr/>
        </p:nvSpPr>
        <p:spPr>
          <a:xfrm>
            <a:off x="2754000" y="303120"/>
            <a:ext cx="66834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Splash Screen and Bluetooth Conection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5"/>
          <p:cNvSpPr/>
          <p:nvPr/>
        </p:nvSpPr>
        <p:spPr>
          <a:xfrm>
            <a:off x="810720" y="826200"/>
            <a:ext cx="174780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App start Splash Screen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Cannot swipe out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: Rounded Corners 6"/>
          <p:cNvSpPr/>
          <p:nvPr/>
        </p:nvSpPr>
        <p:spPr>
          <a:xfrm>
            <a:off x="3311280" y="2256480"/>
            <a:ext cx="1754640" cy="303192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214" name="Picture 7" descr="A white outline of a beard and sunglasses&#10;&#10;AI-generated content may be incorrect."/>
          <p:cNvPicPr/>
          <p:nvPr/>
        </p:nvPicPr>
        <p:blipFill>
          <a:blip r:embed="rId2"/>
          <a:stretch/>
        </p:blipFill>
        <p:spPr>
          <a:xfrm>
            <a:off x="3316320" y="2456640"/>
            <a:ext cx="1742760" cy="221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8"/>
          <p:cNvSpPr/>
          <p:nvPr/>
        </p:nvSpPr>
        <p:spPr>
          <a:xfrm>
            <a:off x="3356640" y="4620600"/>
            <a:ext cx="17024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92d050"/>
                </a:solidFill>
                <a:effectLst/>
                <a:uFillTx/>
                <a:latin typeface="Eras Bold ITC"/>
              </a:rPr>
              <a:t>BoonDocks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rgbClr val="92d050"/>
                </a:solidFill>
                <a:effectLst/>
                <a:uFillTx/>
                <a:latin typeface="Eras Bold ITC"/>
              </a:rPr>
              <a:t>LED Controls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9"/>
          <p:cNvSpPr/>
          <p:nvPr/>
        </p:nvSpPr>
        <p:spPr>
          <a:xfrm>
            <a:off x="5670720" y="1263960"/>
            <a:ext cx="175464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Prompt user to connect to system in the native BT environment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0"/>
          <p:cNvSpPr/>
          <p:nvPr/>
        </p:nvSpPr>
        <p:spPr>
          <a:xfrm>
            <a:off x="810720" y="5488920"/>
            <a:ext cx="425520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App starts, established BT connection, waiting tbd seconds for success before prompting user with the native BT connection screen on the phone.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" name="Picture 2" descr="Bluetooth Auto Connect App - Apps on Google Play"/>
          <p:cNvPicPr/>
          <p:nvPr/>
        </p:nvPicPr>
        <p:blipFill>
          <a:blip r:embed="rId3"/>
          <a:srcRect l="22986" t="-2293" r="23395" b="2293"/>
          <a:stretch/>
        </p:blipFill>
        <p:spPr>
          <a:xfrm>
            <a:off x="5490360" y="2741400"/>
            <a:ext cx="2115720" cy="19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Box 11"/>
          <p:cNvSpPr/>
          <p:nvPr/>
        </p:nvSpPr>
        <p:spPr>
          <a:xfrm>
            <a:off x="5536800" y="4943520"/>
            <a:ext cx="202248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To be determined as needed by Android operating system environment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2"/>
          <p:cNvSpPr/>
          <p:nvPr/>
        </p:nvSpPr>
        <p:spPr>
          <a:xfrm>
            <a:off x="3311280" y="839520"/>
            <a:ext cx="175464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Bluetooth connected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Can swipe out to operating screens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6"/>
          <p:cNvSpPr/>
          <p:nvPr/>
        </p:nvSpPr>
        <p:spPr>
          <a:xfrm>
            <a:off x="7883280" y="1263960"/>
            <a:ext cx="3934080" cy="23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System Configuration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*****NOTE******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After BT connection, the APP will upload the system’s JSON stored configuration. This is such that a another/second user to the system will not need to reprogram all the board configs, names, scenes etc.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3757680" y="337680"/>
            <a:ext cx="46764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Setup Configuration Screen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: Rounded Corners 2"/>
          <p:cNvSpPr/>
          <p:nvPr/>
        </p:nvSpPr>
        <p:spPr>
          <a:xfrm>
            <a:off x="252000" y="133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24" name="TextBox 3"/>
          <p:cNvSpPr/>
          <p:nvPr/>
        </p:nvSpPr>
        <p:spPr>
          <a:xfrm>
            <a:off x="444240" y="164088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4"/>
          <p:cNvSpPr/>
          <p:nvPr/>
        </p:nvSpPr>
        <p:spPr>
          <a:xfrm>
            <a:off x="444240" y="21751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5"/>
          <p:cNvSpPr/>
          <p:nvPr/>
        </p:nvSpPr>
        <p:spPr>
          <a:xfrm>
            <a:off x="444240" y="2709360"/>
            <a:ext cx="1348200" cy="36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3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6"/>
          <p:cNvSpPr/>
          <p:nvPr/>
        </p:nvSpPr>
        <p:spPr>
          <a:xfrm>
            <a:off x="444240" y="325008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8" name="Picture 4" descr="Home - Free buildings icons"/>
          <p:cNvPicPr/>
          <p:nvPr/>
        </p:nvPicPr>
        <p:blipFill>
          <a:blip r:embed="rId1"/>
          <a:stretch/>
        </p:blipFill>
        <p:spPr>
          <a:xfrm>
            <a:off x="841320" y="3764520"/>
            <a:ext cx="553680" cy="55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Rectangle: Rounded Corners 7"/>
          <p:cNvSpPr/>
          <p:nvPr/>
        </p:nvSpPr>
        <p:spPr>
          <a:xfrm>
            <a:off x="2309400" y="133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0" name="TextBox 8"/>
          <p:cNvSpPr/>
          <p:nvPr/>
        </p:nvSpPr>
        <p:spPr>
          <a:xfrm>
            <a:off x="2512440" y="1495440"/>
            <a:ext cx="1348200" cy="369000"/>
          </a:xfrm>
          <a:prstGeom prst="rect">
            <a:avLst/>
          </a:prstGeom>
          <a:noFill/>
          <a:ln w="190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2512440" y="205740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RGBW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10"/>
          <p:cNvSpPr/>
          <p:nvPr/>
        </p:nvSpPr>
        <p:spPr>
          <a:xfrm>
            <a:off x="2512440" y="25988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 + 1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2"/>
          <p:cNvSpPr/>
          <p:nvPr/>
        </p:nvSpPr>
        <p:spPr>
          <a:xfrm>
            <a:off x="2512440" y="312192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 Channel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4" name="Picture 10" descr="Back Button - Free arrows icons"/>
          <p:cNvPicPr/>
          <p:nvPr/>
        </p:nvPicPr>
        <p:blipFill>
          <a:blip r:embed="rId2"/>
          <a:stretch/>
        </p:blipFill>
        <p:spPr>
          <a:xfrm>
            <a:off x="2922480" y="3763080"/>
            <a:ext cx="555120" cy="55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Rectangle: Rounded Corners 14"/>
          <p:cNvSpPr/>
          <p:nvPr/>
        </p:nvSpPr>
        <p:spPr>
          <a:xfrm>
            <a:off x="6121080" y="133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36" name="TextBox 15"/>
          <p:cNvSpPr/>
          <p:nvPr/>
        </p:nvSpPr>
        <p:spPr>
          <a:xfrm>
            <a:off x="4221720" y="2114280"/>
            <a:ext cx="17546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Return to Scene page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16"/>
          <p:cNvSpPr/>
          <p:nvPr/>
        </p:nvSpPr>
        <p:spPr>
          <a:xfrm>
            <a:off x="6324120" y="1467720"/>
            <a:ext cx="1348200" cy="645840"/>
          </a:xfrm>
          <a:prstGeom prst="rect">
            <a:avLst/>
          </a:prstGeom>
          <a:noFill/>
          <a:ln w="190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br>
              <a:rPr sz="1800"/>
            </a:b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RGBW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7"/>
          <p:cNvSpPr/>
          <p:nvPr/>
        </p:nvSpPr>
        <p:spPr>
          <a:xfrm>
            <a:off x="6324120" y="225108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Username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18"/>
          <p:cNvSpPr/>
          <p:nvPr/>
        </p:nvSpPr>
        <p:spPr>
          <a:xfrm>
            <a:off x="6324120" y="27788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CTL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6" descr="Keyboard of smartphone icon. Mobile phone keypad sign. Screen smartphone keyboard  symbol. flat style 37740706 Vector Art at Vecteezy"/>
          <p:cNvPicPr/>
          <p:nvPr/>
        </p:nvPicPr>
        <p:blipFill>
          <a:blip r:embed="rId3"/>
          <a:stretch/>
        </p:blipFill>
        <p:spPr>
          <a:xfrm>
            <a:off x="6121080" y="342792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Rectangle: Rounded Corners 20"/>
          <p:cNvSpPr/>
          <p:nvPr/>
        </p:nvSpPr>
        <p:spPr>
          <a:xfrm>
            <a:off x="8223480" y="133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2" name="TextBox 21"/>
          <p:cNvSpPr/>
          <p:nvPr/>
        </p:nvSpPr>
        <p:spPr>
          <a:xfrm>
            <a:off x="8426880" y="1467720"/>
            <a:ext cx="1348200" cy="645840"/>
          </a:xfrm>
          <a:prstGeom prst="rect">
            <a:avLst/>
          </a:prstGeom>
          <a:noFill/>
          <a:ln w="190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LED CTL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br>
              <a:rPr sz="1800"/>
            </a:b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 +1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22"/>
          <p:cNvSpPr/>
          <p:nvPr/>
        </p:nvSpPr>
        <p:spPr>
          <a:xfrm>
            <a:off x="8426880" y="2084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RGB 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23"/>
          <p:cNvSpPr/>
          <p:nvPr/>
        </p:nvSpPr>
        <p:spPr>
          <a:xfrm>
            <a:off x="8426880" y="294084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CTL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6" descr="Keyboard of smartphone icon. Mobile phone keypad sign. Screen smartphone keyboard  symbol. flat style 37740706 Vector Art at Vecteezy"/>
          <p:cNvPicPr/>
          <p:nvPr/>
        </p:nvPicPr>
        <p:blipFill>
          <a:blip r:embed="rId4"/>
          <a:stretch/>
        </p:blipFill>
        <p:spPr>
          <a:xfrm>
            <a:off x="8223480" y="342792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Box 25"/>
          <p:cNvSpPr/>
          <p:nvPr/>
        </p:nvSpPr>
        <p:spPr>
          <a:xfrm>
            <a:off x="8426880" y="2516760"/>
            <a:ext cx="1348200" cy="36900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+1 Name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: Rounded Corners 26"/>
          <p:cNvSpPr/>
          <p:nvPr/>
        </p:nvSpPr>
        <p:spPr>
          <a:xfrm>
            <a:off x="10277280" y="1339920"/>
            <a:ext cx="1754640" cy="3031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8" name="TextBox 28"/>
          <p:cNvSpPr/>
          <p:nvPr/>
        </p:nvSpPr>
        <p:spPr>
          <a:xfrm>
            <a:off x="10488600" y="144900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CH 1 Name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29"/>
          <p:cNvSpPr/>
          <p:nvPr/>
        </p:nvSpPr>
        <p:spPr>
          <a:xfrm>
            <a:off x="10488600" y="227052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CH 3 Name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Picture 6" descr="Keyboard of smartphone icon. Mobile phone keypad sign. Screen smartphone keyboard  symbol. flat style 37740706 Vector Art at Vecteezy"/>
          <p:cNvPicPr/>
          <p:nvPr/>
        </p:nvPicPr>
        <p:blipFill>
          <a:blip r:embed="rId5"/>
          <a:stretch/>
        </p:blipFill>
        <p:spPr>
          <a:xfrm>
            <a:off x="10285560" y="3408840"/>
            <a:ext cx="1754640" cy="8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TextBox 4095"/>
          <p:cNvSpPr/>
          <p:nvPr/>
        </p:nvSpPr>
        <p:spPr>
          <a:xfrm>
            <a:off x="10488600" y="184644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CH 2 Name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4096"/>
          <p:cNvSpPr/>
          <p:nvPr/>
        </p:nvSpPr>
        <p:spPr>
          <a:xfrm>
            <a:off x="10488600" y="267588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CH 4 Name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4098"/>
          <p:cNvSpPr/>
          <p:nvPr/>
        </p:nvSpPr>
        <p:spPr>
          <a:xfrm>
            <a:off x="208800" y="4509360"/>
            <a:ext cx="5824440" cy="17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The touch of a box on the Setup Splash takes user to the board config screen. The user selects 1 of 3 configs which then takes the user to the Board naming screen. After the name is saved in the naming page, the system will return to the Setup Splash; and, the text box will be highlighted to show it is setup.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4100"/>
          <p:cNvSpPr/>
          <p:nvPr/>
        </p:nvSpPr>
        <p:spPr>
          <a:xfrm>
            <a:off x="240840" y="877320"/>
            <a:ext cx="1754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Setup splash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5" name="Picture 4" descr="Home - Free buildings icons"/>
          <p:cNvPicPr/>
          <p:nvPr/>
        </p:nvPicPr>
        <p:blipFill>
          <a:blip r:embed="rId6"/>
          <a:stretch/>
        </p:blipFill>
        <p:spPr>
          <a:xfrm>
            <a:off x="4822200" y="1484640"/>
            <a:ext cx="553680" cy="55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Box 4102"/>
          <p:cNvSpPr/>
          <p:nvPr/>
        </p:nvSpPr>
        <p:spPr>
          <a:xfrm>
            <a:off x="2418840" y="1026720"/>
            <a:ext cx="1754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Board Config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10" descr="Back Button - Free arrows icons"/>
          <p:cNvPicPr/>
          <p:nvPr/>
        </p:nvPicPr>
        <p:blipFill>
          <a:blip r:embed="rId7"/>
          <a:stretch/>
        </p:blipFill>
        <p:spPr>
          <a:xfrm>
            <a:off x="4824000" y="2836080"/>
            <a:ext cx="555120" cy="55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Box 4106"/>
          <p:cNvSpPr/>
          <p:nvPr/>
        </p:nvSpPr>
        <p:spPr>
          <a:xfrm>
            <a:off x="4221720" y="3550680"/>
            <a:ext cx="17546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Return to Setup Splash page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4107"/>
          <p:cNvSpPr/>
          <p:nvPr/>
        </p:nvSpPr>
        <p:spPr>
          <a:xfrm>
            <a:off x="10495800" y="3076560"/>
            <a:ext cx="1348200" cy="276480"/>
          </a:xfrm>
          <a:prstGeom prst="rect">
            <a:avLst/>
          </a:prstGeom>
          <a:noFill/>
          <a:ln w="19050">
            <a:solidFill>
              <a:srgbClr val="156082">
                <a:shade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Save CTL </a:t>
            </a:r>
            <a:r>
              <a:rPr b="0" i="1" lang="en-US" sz="1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X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10706</TotalTime>
  <Application>LibreOffice/25.8.2.2$Windows_X86_64 LibreOffice_project/d401f2107ccab8f924a8e2df40f573aab7605b6f</Application>
  <AppVersion>15.0000</AppVersion>
  <Words>607</Words>
  <Paragraphs>138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2025-05-07T16:53:21Z</dcterms:created>
  <dc:creator>Kathleen Loebbaka</dc:creator>
  <dc:description/>
  <dc:language>en-US</dc:language>
  <cp:lastModifiedBy/>
  <dcterms:modified xsi:type="dcterms:W3CDTF">2025-11-21T22:23:22Z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6</vt:i4>
  </property>
</Properties>
</file>